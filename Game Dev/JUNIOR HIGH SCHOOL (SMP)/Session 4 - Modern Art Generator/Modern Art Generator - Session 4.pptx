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8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72B6"/>
    <a:srgbClr val="FFFF00"/>
    <a:srgbClr val="00FFFF"/>
    <a:srgbClr val="F618FB"/>
    <a:srgbClr val="1E1C11"/>
    <a:srgbClr val="4F81B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33.png"/><Relationship Id="rId5" Type="http://schemas.openxmlformats.org/officeDocument/2006/relationships/image" Target="../media/image28.png"/><Relationship Id="rId10" Type="http://schemas.openxmlformats.org/officeDocument/2006/relationships/image" Target="../media/image32.png"/><Relationship Id="rId4" Type="http://schemas.openxmlformats.org/officeDocument/2006/relationships/image" Target="../media/image27.png"/><Relationship Id="rId9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67037" y="2219325"/>
            <a:ext cx="62579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22D3EE"/>
                </a:solidFill>
                <a:latin typeface="Inter SemiBold"/>
              </a:rPr>
              <a:t>CCA GAME DEVELOPMENT · SESSION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10589" y="2619375"/>
            <a:ext cx="6570821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500" b="1" i="0" u="none">
                <a:solidFill>
                  <a:srgbClr val="F8FAFC"/>
                </a:solidFill>
                <a:latin typeface="Poppins"/>
              </a:rPr>
              <a:t>Modern Art </a:t>
            </a:r>
            <a:r>
              <a:rPr sz="4500" b="1" i="0" u="none">
                <a:solidFill>
                  <a:srgbClr val="22D3EE"/>
                </a:solidFill>
                <a:latin typeface="Poppins"/>
              </a:rPr>
              <a:t>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67037" y="3571875"/>
            <a:ext cx="625792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94A3B8"/>
                </a:solidFill>
                <a:latin typeface="Inter"/>
              </a:rPr>
              <a:t>Let's turn Python code into a living, colorful digital canvas!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67037" y="4267200"/>
            <a:ext cx="6257925" cy="228600"/>
          </a:xfrm>
          <a:prstGeom prst="rect">
            <a:avLst/>
          </a:prstGeom>
          <a:noFill/>
        </p:spPr>
        <p:txBody>
          <a:bodyPr wrap="square" lIns="13335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Teacher: Annisa Fairuz | Global Prestasi School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0062" y="4305300"/>
            <a:ext cx="1333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57437"/>
            <a:ext cx="2547937" cy="3114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5187" y="2357437"/>
            <a:ext cx="2547937" cy="31146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2357437"/>
            <a:ext cx="2547937" cy="31146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2562" y="2357437"/>
            <a:ext cx="2547937" cy="31146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2093" y="2652712"/>
            <a:ext cx="666750" cy="666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7834" y="3509962"/>
            <a:ext cx="2155269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1" i="0" u="none">
                <a:solidFill>
                  <a:srgbClr val="E2E8F0"/>
                </a:solidFill>
                <a:latin typeface="Poppins"/>
              </a:rPr>
              <a:t>1. Memory Refresh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4348162"/>
            <a:ext cx="2052637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Quick check on PyGame Window coordinates </a:t>
            </a:r>
            <a:r>
              <a:rPr sz="1200" b="1" i="0" u="none">
                <a:solidFill>
                  <a:srgbClr val="CBD5E1"/>
                </a:solidFill>
                <a:latin typeface="Inter"/>
              </a:rPr>
              <a:t>(0,0)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and RGB color mixing.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45781" y="2652712"/>
            <a:ext cx="666750" cy="6667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49027" y="3509962"/>
            <a:ext cx="2060257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1" i="0" u="none" dirty="0">
                <a:solidFill>
                  <a:srgbClr val="F472B6"/>
                </a:solidFill>
                <a:latin typeface="Poppins"/>
              </a:rPr>
              <a:t>2. Randomness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2837" y="3976687"/>
            <a:ext cx="2052637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Learn how to bring "surprise" into our code using the </a:t>
            </a:r>
            <a:r>
              <a:rPr sz="1200" b="1" i="0" u="none">
                <a:solidFill>
                  <a:srgbClr val="CBD5E1"/>
                </a:solidFill>
                <a:latin typeface="Inter"/>
              </a:rPr>
              <a:t>random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tool.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79468" y="2652712"/>
            <a:ext cx="666750" cy="6667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22745" y="3509962"/>
            <a:ext cx="1580197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1" i="0" u="none" dirty="0">
                <a:solidFill>
                  <a:srgbClr val="FACC15"/>
                </a:solidFill>
                <a:latin typeface="Poppins"/>
              </a:rPr>
              <a:t>3. For Loops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6525" y="3976687"/>
            <a:ext cx="2052637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Learn how to tell the computer to repeat actions instantly.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13156" y="2652712"/>
            <a:ext cx="666750" cy="6667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356407" y="3509962"/>
            <a:ext cx="1980247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1" i="0" u="none">
                <a:solidFill>
                  <a:srgbClr val="4ADE80"/>
                </a:solidFill>
                <a:latin typeface="Poppins"/>
              </a:rPr>
              <a:t>4. Final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0212" y="3976687"/>
            <a:ext cx="2052637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Build your own automated Modern Art Generator in VS Code!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50206" y="2814637"/>
            <a:ext cx="390525" cy="3429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64843" y="2814637"/>
            <a:ext cx="428625" cy="3429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41393" y="2814637"/>
            <a:ext cx="342900" cy="3429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175081" y="2814637"/>
            <a:ext cx="342900" cy="3429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1500" y="476250"/>
            <a:ext cx="11601450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F8FAFC"/>
                </a:solidFill>
                <a:latin typeface="Poppins"/>
              </a:rPr>
              <a:t>What are we building today? 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" y="114300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06699"/>
            <a:ext cx="5286375" cy="301600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406699"/>
            <a:ext cx="5286375" cy="30160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749599"/>
            <a:ext cx="4830603" cy="371475"/>
          </a:xfrm>
          <a:prstGeom prst="rect">
            <a:avLst/>
          </a:prstGeom>
          <a:noFill/>
        </p:spPr>
        <p:txBody>
          <a:bodyPr wrap="square" lIns="24765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22D3EE"/>
                </a:solidFill>
                <a:latin typeface="Poppins"/>
              </a:rPr>
              <a:t>Screen Coordinates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16324"/>
            <a:ext cx="46005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In PyGame, the math is slightly different from school!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7025" y="2749599"/>
            <a:ext cx="4830603" cy="37147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22D3EE"/>
                </a:solidFill>
                <a:latin typeface="Poppins"/>
              </a:rPr>
              <a:t>RGB Colors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025" y="3216324"/>
            <a:ext cx="46005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We paint shapes by mixing light values.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806749"/>
            <a:ext cx="247650" cy="247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57275" y="3616374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3616374"/>
            <a:ext cx="4362450" cy="238079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CBD5E1"/>
                </a:solidFill>
                <a:latin typeface="Inter"/>
              </a:rPr>
              <a:t>The Origin :</a:t>
            </a:r>
            <a:r>
              <a:rPr lang="en-US" sz="1350" b="1" i="0" u="none" dirty="0">
                <a:solidFill>
                  <a:srgbClr val="CBD5E1"/>
                </a:solidFill>
                <a:latin typeface="Inter"/>
              </a:rPr>
              <a:t>                    </a:t>
            </a:r>
            <a:r>
              <a:rPr sz="1350" b="0" i="0" u="none" dirty="0">
                <a:solidFill>
                  <a:srgbClr val="CBD5E1"/>
                </a:solidFill>
                <a:latin typeface="Inter"/>
              </a:rPr>
              <a:t> Always lives at the </a:t>
            </a:r>
            <a:r>
              <a:rPr sz="1350" b="1" i="0" u="none" dirty="0">
                <a:solidFill>
                  <a:srgbClr val="CBD5E1"/>
                </a:solidFill>
                <a:latin typeface="Inter"/>
              </a:rPr>
              <a:t>Top-Left</a:t>
            </a:r>
            <a:r>
              <a:rPr sz="1350" b="0" i="0" u="none" dirty="0">
                <a:solidFill>
                  <a:srgbClr val="CBD5E1"/>
                </a:solidFill>
                <a:latin typeface="Inter"/>
              </a:rPr>
              <a:t> corner.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7275" y="4279701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525" y="4279701"/>
            <a:ext cx="4362450" cy="2571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BD5E1"/>
                </a:solidFill>
                <a:latin typeface="Inter"/>
              </a:rPr>
              <a:t>X-Axis: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Moves </a:t>
            </a:r>
            <a:r>
              <a:rPr sz="1350" b="1" i="0" u="none">
                <a:solidFill>
                  <a:srgbClr val="CBD5E1"/>
                </a:solidFill>
                <a:latin typeface="Inter"/>
              </a:rPr>
              <a:t>RIGHT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as the number gets bigger.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7275" y="4679751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525" y="4679751"/>
            <a:ext cx="4362450" cy="2571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BD5E1"/>
                </a:solidFill>
                <a:latin typeface="Inter"/>
              </a:rPr>
              <a:t>Y-Axis: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Moves </a:t>
            </a:r>
            <a:r>
              <a:rPr sz="1350" b="1" i="0" u="none">
                <a:solidFill>
                  <a:srgbClr val="CBD5E1"/>
                </a:solidFill>
                <a:latin typeface="Inter"/>
              </a:rPr>
              <a:t>DOWN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as the number gets bigger.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7025" y="2806749"/>
            <a:ext cx="190500" cy="2476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819900" y="3616374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15150" y="3616374"/>
            <a:ext cx="4362450" cy="263276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Format: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9900" y="4022526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15150" y="4022526"/>
            <a:ext cx="4362450" cy="2571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Values range from </a:t>
            </a:r>
            <a:r>
              <a:rPr sz="1350" b="1" i="0" u="none">
                <a:solidFill>
                  <a:srgbClr val="CBD5E1"/>
                </a:solidFill>
                <a:latin typeface="Inter"/>
              </a:rPr>
              <a:t>0 (Dark)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to </a:t>
            </a:r>
            <a:r>
              <a:rPr sz="1350" b="1" i="0" u="none">
                <a:solidFill>
                  <a:srgbClr val="CBD5E1"/>
                </a:solidFill>
                <a:latin typeface="Inter"/>
              </a:rPr>
              <a:t>255 (Bright)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9900" y="4422576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5150" y="4422576"/>
            <a:ext cx="4362450" cy="263276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Example: makes pure green!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1900" y="3597324"/>
            <a:ext cx="1885950" cy="3048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05725" y="4403526"/>
            <a:ext cx="1219200" cy="3048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76450" y="3597324"/>
            <a:ext cx="742950" cy="3048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71500" y="476250"/>
            <a:ext cx="11601450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Poppins"/>
              </a:rPr>
              <a:t>The Rules of Our Digital Canvas 🗺️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1500" y="114300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2741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6706" y="2187098"/>
            <a:ext cx="5915991" cy="2298321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marL="285750" indent="-285750" algn="l">
              <a:lnSpc>
                <a:spcPts val="2025"/>
              </a:lnSpc>
              <a:buFont typeface="Arial" panose="020B0604020202020204" pitchFamily="34" charset="0"/>
              <a:buChar char="•"/>
            </a:pPr>
            <a:r>
              <a:rPr b="1" i="0" u="none" dirty="0">
                <a:solidFill>
                  <a:srgbClr val="CBD5E1"/>
                </a:solidFill>
                <a:latin typeface="Inter"/>
              </a:rPr>
              <a:t>The Problem</a:t>
            </a:r>
            <a:r>
              <a:rPr sz="1600" b="1" i="0" u="none" dirty="0">
                <a:solidFill>
                  <a:srgbClr val="CBD5E1"/>
                </a:solidFill>
                <a:latin typeface="Inter"/>
              </a:rPr>
              <a:t>:</a:t>
            </a:r>
            <a:r>
              <a:rPr sz="1600" b="0" i="0" u="none" dirty="0">
                <a:solidFill>
                  <a:srgbClr val="CBD5E1"/>
                </a:solidFill>
                <a:latin typeface="Inter"/>
              </a:rPr>
              <a:t> If games always look the same, players get bored! We need unpredictability.</a:t>
            </a:r>
            <a:endParaRPr lang="en-US" sz="1600" b="0" i="0" u="none" dirty="0">
              <a:solidFill>
                <a:srgbClr val="CBD5E1"/>
              </a:solidFill>
              <a:latin typeface="Inter"/>
            </a:endParaRPr>
          </a:p>
          <a:p>
            <a:pPr marL="285750" indent="-285750" algn="l">
              <a:lnSpc>
                <a:spcPts val="2025"/>
              </a:lnSpc>
              <a:buFont typeface="Arial" panose="020B0604020202020204" pitchFamily="34" charset="0"/>
              <a:buChar char="•"/>
            </a:pPr>
            <a:endParaRPr lang="en-US" sz="1600" b="0" i="0" u="none" dirty="0">
              <a:solidFill>
                <a:srgbClr val="CBD5E1"/>
              </a:solidFill>
              <a:latin typeface="Inter"/>
            </a:endParaRPr>
          </a:p>
          <a:p>
            <a:pPr marL="285750" indent="-285750">
              <a:lnSpc>
                <a:spcPts val="2025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BD5E1"/>
                </a:solidFill>
                <a:latin typeface="Inter"/>
              </a:rPr>
              <a:t>The Solution</a:t>
            </a:r>
            <a:r>
              <a:rPr lang="en-US" sz="1600" b="1" dirty="0">
                <a:solidFill>
                  <a:srgbClr val="CBD5E1"/>
                </a:solidFill>
                <a:latin typeface="Inter"/>
              </a:rPr>
              <a:t>:</a:t>
            </a:r>
            <a:r>
              <a:rPr lang="en-US" sz="1600" dirty="0">
                <a:solidFill>
                  <a:srgbClr val="CBD5E1"/>
                </a:solidFill>
                <a:latin typeface="Inter"/>
              </a:rPr>
              <a:t> We build a "dice roll" into our code.</a:t>
            </a:r>
          </a:p>
          <a:p>
            <a:pPr marL="285750" indent="-285750">
              <a:lnSpc>
                <a:spcPts val="2025"/>
              </a:lnSpc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CBD5E1"/>
              </a:solidFill>
              <a:latin typeface="Inter"/>
            </a:endParaRPr>
          </a:p>
          <a:p>
            <a:pPr marL="285750" indent="-285750">
              <a:lnSpc>
                <a:spcPts val="2025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BD5E1"/>
                </a:solidFill>
                <a:latin typeface="Inter"/>
              </a:rPr>
              <a:t>The Tool</a:t>
            </a:r>
            <a:r>
              <a:rPr lang="en-US" sz="1600" b="1" dirty="0">
                <a:solidFill>
                  <a:srgbClr val="CBD5E1"/>
                </a:solidFill>
                <a:latin typeface="Inter"/>
              </a:rPr>
              <a:t>:</a:t>
            </a:r>
            <a:r>
              <a:rPr lang="en-US" sz="1600" dirty="0">
                <a:solidFill>
                  <a:srgbClr val="CBD5E1"/>
                </a:solidFill>
                <a:latin typeface="Inter"/>
              </a:rPr>
              <a:t> Type </a:t>
            </a:r>
            <a:r>
              <a:rPr lang="en-US" sz="1600" dirty="0">
                <a:solidFill>
                  <a:srgbClr val="FFFF00"/>
                </a:solidFill>
                <a:latin typeface="Consolas" panose="020B0609020204030204" pitchFamily="49" charset="0"/>
                <a:cs typeface="Lao UI" panose="020F0502020204030204" pitchFamily="34" charset="0"/>
              </a:rPr>
              <a:t>import</a:t>
            </a:r>
            <a:r>
              <a:rPr lang="en-US" dirty="0">
                <a:solidFill>
                  <a:srgbClr val="FFFF00"/>
                </a:solidFill>
                <a:latin typeface="Consolas" panose="020B0609020204030204" pitchFamily="49" charset="0"/>
                <a:cs typeface="Lao UI" panose="020F0502020204030204" pitchFamily="34" charset="0"/>
              </a:rPr>
              <a:t> </a:t>
            </a:r>
            <a:r>
              <a:rPr lang="en-US" sz="1600" dirty="0">
                <a:solidFill>
                  <a:srgbClr val="FFFF00"/>
                </a:solidFill>
                <a:latin typeface="Consolas" panose="020B0609020204030204" pitchFamily="49" charset="0"/>
                <a:cs typeface="Lao UI" panose="020F0502020204030204" pitchFamily="34" charset="0"/>
              </a:rPr>
              <a:t>random</a:t>
            </a:r>
            <a:r>
              <a:rPr lang="en-US" dirty="0">
                <a:solidFill>
                  <a:srgbClr val="FFFF00"/>
                </a:solidFill>
                <a:latin typeface="Consolas" panose="020B0609020204030204" pitchFamily="49" charset="0"/>
                <a:cs typeface="Lao UI" panose="020F0502020204030204" pitchFamily="34" charset="0"/>
              </a:rPr>
              <a:t> </a:t>
            </a:r>
            <a:r>
              <a:rPr lang="en-US" sz="1600" dirty="0">
                <a:solidFill>
                  <a:srgbClr val="CBD5E1"/>
                </a:solidFill>
                <a:latin typeface="Inter"/>
              </a:rPr>
              <a:t>at the top of your file.</a:t>
            </a:r>
          </a:p>
          <a:p>
            <a:pPr marL="285750" indent="-285750">
              <a:lnSpc>
                <a:spcPts val="2025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CBD5E1"/>
              </a:solidFill>
              <a:latin typeface="Inter"/>
            </a:endParaRPr>
          </a:p>
          <a:p>
            <a:pPr marL="285750" indent="-285750">
              <a:lnSpc>
                <a:spcPts val="2025"/>
              </a:lnSpc>
              <a:buFont typeface="Arial" panose="020B0604020202020204" pitchFamily="34" charset="0"/>
              <a:buChar char="•"/>
            </a:pPr>
            <a:r>
              <a:rPr lang="id-ID" b="1" dirty="0">
                <a:solidFill>
                  <a:srgbClr val="CBD5E1"/>
                </a:solidFill>
                <a:latin typeface="Inter"/>
              </a:rPr>
              <a:t>The </a:t>
            </a:r>
            <a:r>
              <a:rPr lang="id-ID" b="1" dirty="0" err="1">
                <a:solidFill>
                  <a:srgbClr val="CBD5E1"/>
                </a:solidFill>
                <a:latin typeface="Inter"/>
              </a:rPr>
              <a:t>Command</a:t>
            </a:r>
            <a:r>
              <a:rPr lang="id-ID" sz="1600" b="1" dirty="0">
                <a:solidFill>
                  <a:srgbClr val="CBD5E1"/>
                </a:solidFill>
                <a:latin typeface="Inter"/>
              </a:rPr>
              <a:t>:</a:t>
            </a:r>
            <a:r>
              <a:rPr lang="en-US" sz="1600" b="1" dirty="0">
                <a:solidFill>
                  <a:srgbClr val="CBD5E1"/>
                </a:solidFill>
                <a:latin typeface="Inter"/>
              </a:rPr>
              <a:t> </a:t>
            </a:r>
            <a:r>
              <a:rPr lang="en-US" sz="1600" dirty="0" err="1">
                <a:solidFill>
                  <a:srgbClr val="FFFF00"/>
                </a:solidFill>
                <a:latin typeface="Consolas" panose="020B0609020204030204" pitchFamily="49" charset="0"/>
                <a:cs typeface="Lao UI" panose="020F0502020204030204" pitchFamily="34" charset="0"/>
              </a:rPr>
              <a:t>random.radint</a:t>
            </a:r>
            <a:r>
              <a:rPr lang="en-US" sz="1600" dirty="0">
                <a:solidFill>
                  <a:srgbClr val="FFFF00"/>
                </a:solidFill>
                <a:latin typeface="Consolas" panose="020B0609020204030204" pitchFamily="49" charset="0"/>
                <a:cs typeface="Lao UI" panose="020F0502020204030204" pitchFamily="34" charset="0"/>
              </a:rPr>
              <a:t>(</a:t>
            </a:r>
            <a:r>
              <a:rPr lang="en-US" sz="1600" dirty="0" err="1">
                <a:solidFill>
                  <a:srgbClr val="FFFF00"/>
                </a:solidFill>
                <a:latin typeface="Consolas" panose="020B0609020204030204" pitchFamily="49" charset="0"/>
                <a:cs typeface="Lao UI" panose="020F0502020204030204" pitchFamily="34" charset="0"/>
              </a:rPr>
              <a:t>min,max</a:t>
            </a:r>
            <a:r>
              <a:rPr lang="en-US" sz="1600" dirty="0">
                <a:solidFill>
                  <a:srgbClr val="FFFF00"/>
                </a:solidFill>
                <a:latin typeface="Consolas" panose="020B0609020204030204" pitchFamily="49" charset="0"/>
                <a:cs typeface="Lao UI" panose="020F0502020204030204" pitchFamily="34" charset="0"/>
              </a:rPr>
              <a:t>)</a:t>
            </a:r>
            <a:endParaRPr lang="id-ID" sz="1600" b="1" dirty="0">
              <a:solidFill>
                <a:srgbClr val="CBD5E1"/>
              </a:solidFill>
              <a:latin typeface="Inter"/>
            </a:endParaRPr>
          </a:p>
          <a:p>
            <a:pPr>
              <a:lnSpc>
                <a:spcPts val="2025"/>
              </a:lnSpc>
            </a:pPr>
            <a:endParaRPr lang="en-US" sz="1600" dirty="0">
              <a:solidFill>
                <a:srgbClr val="CBD5E1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454" y="1208939"/>
            <a:ext cx="1160145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F8FAFC"/>
                </a:solidFill>
                <a:latin typeface="Poppins"/>
              </a:rPr>
              <a:t>Concept 1: Why Do We Need Randomness? 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14300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12FBB1F-755C-BCAD-8F24-F24B105FB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4197" y="1817818"/>
            <a:ext cx="4623145" cy="3950957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5DBEB20-6580-E03A-9C46-72F235B1D53D}"/>
              </a:ext>
            </a:extLst>
          </p:cNvPr>
          <p:cNvSpPr/>
          <p:nvPr/>
        </p:nvSpPr>
        <p:spPr>
          <a:xfrm>
            <a:off x="571500" y="4542826"/>
            <a:ext cx="6372697" cy="1629373"/>
          </a:xfrm>
          <a:prstGeom prst="roundRect">
            <a:avLst/>
          </a:prstGeom>
          <a:solidFill>
            <a:srgbClr val="1E1C11">
              <a:alpha val="60000"/>
            </a:srgbClr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618FB"/>
                </a:solidFill>
                <a:latin typeface="Consolas" panose="020B0609020204030204" pitchFamily="49" charset="0"/>
              </a:rPr>
              <a:t>import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FFFF"/>
                </a:solidFill>
                <a:latin typeface="Consolas" panose="020B0609020204030204" pitchFamily="49" charset="0"/>
              </a:rPr>
              <a:t>random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#"Hey computer, pick a random number between 0 and 800!"</a:t>
            </a:r>
          </a:p>
          <a:p>
            <a:r>
              <a:rPr lang="en-US" sz="1400" dirty="0" err="1">
                <a:latin typeface="Consolas" panose="020B0609020204030204" pitchFamily="49" charset="0"/>
              </a:rPr>
              <a:t>random_x</a:t>
            </a:r>
            <a:r>
              <a:rPr lang="en-US" sz="1400" dirty="0"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FFFF"/>
                </a:solidFill>
                <a:latin typeface="Consolas" panose="020B0609020204030204" pitchFamily="49" charset="0"/>
              </a:rPr>
              <a:t>random</a:t>
            </a:r>
            <a:r>
              <a:rPr lang="en-US" sz="1400" dirty="0" err="1">
                <a:latin typeface="Consolas" panose="020B0609020204030204" pitchFamily="49" charset="0"/>
              </a:rPr>
              <a:t>.randint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latin typeface="Consolas" panose="020B0609020204030204" pitchFamily="49" charset="0"/>
              </a:rPr>
              <a:t>0, 800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/>
              <a:t>random_</a:t>
            </a:r>
            <a:r>
              <a:rPr lang="id-ID" sz="1400" dirty="0"/>
              <a:t>y = </a:t>
            </a:r>
            <a:r>
              <a:rPr lang="id-ID" sz="1400" dirty="0" err="1"/>
              <a:t>random.randint</a:t>
            </a:r>
            <a:r>
              <a:rPr lang="id-ID" sz="1400" dirty="0"/>
              <a:t>(0, 500) </a:t>
            </a:r>
            <a:br>
              <a:rPr lang="en-US" sz="1400" dirty="0"/>
            </a:br>
            <a:r>
              <a:rPr lang="id-ID" sz="1400" dirty="0" err="1"/>
              <a:t>color</a:t>
            </a:r>
            <a:r>
              <a:rPr lang="id-ID" sz="1400" dirty="0"/>
              <a:t> = ( </a:t>
            </a:r>
            <a:r>
              <a:rPr lang="id-ID" sz="1400" dirty="0" err="1"/>
              <a:t>random.randint</a:t>
            </a:r>
            <a:r>
              <a:rPr lang="id-ID" sz="1400" dirty="0"/>
              <a:t>(0, 255), </a:t>
            </a:r>
            <a:r>
              <a:rPr lang="id-ID" sz="1400" dirty="0" err="1"/>
              <a:t>random.randint</a:t>
            </a:r>
            <a:r>
              <a:rPr lang="id-ID" sz="1400" dirty="0"/>
              <a:t>(0, 255), </a:t>
            </a:r>
            <a:r>
              <a:rPr lang="id-ID" sz="1400" dirty="0" err="1"/>
              <a:t>random.randint</a:t>
            </a:r>
            <a:r>
              <a:rPr lang="id-ID" sz="1400" dirty="0"/>
              <a:t>(0, 255)</a:t>
            </a:r>
            <a:r>
              <a:rPr lang="en-US" sz="1400" dirty="0"/>
              <a:t>)</a:t>
            </a:r>
            <a:endParaRPr lang="id-ID" sz="1400" dirty="0">
              <a:solidFill>
                <a:srgbClr val="FFFF00"/>
              </a:solidFill>
            </a:endParaRPr>
          </a:p>
        </p:txBody>
      </p:sp>
      <p:pic>
        <p:nvPicPr>
          <p:cNvPr id="24" name="Picture 23" descr="image.png">
            <a:extLst>
              <a:ext uri="{FF2B5EF4-FFF2-40B4-BE49-F238E27FC236}">
                <a16:creationId xmlns:a16="http://schemas.microsoft.com/office/drawing/2014/main" id="{0542EE2D-01FB-3C0A-EA31-68214B931A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392" y="323851"/>
            <a:ext cx="666750" cy="666750"/>
          </a:xfrm>
          <a:prstGeom prst="rect">
            <a:avLst/>
          </a:prstGeom>
        </p:spPr>
      </p:pic>
      <p:pic>
        <p:nvPicPr>
          <p:cNvPr id="26" name="Picture 25" descr="image.png">
            <a:extLst>
              <a:ext uri="{FF2B5EF4-FFF2-40B4-BE49-F238E27FC236}">
                <a16:creationId xmlns:a16="http://schemas.microsoft.com/office/drawing/2014/main" id="{F852C608-8C69-E843-B183-6E2ECC4842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454" y="485776"/>
            <a:ext cx="428625" cy="3429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4B56D2EB-BC48-C786-1768-38946217C3FE}"/>
              </a:ext>
            </a:extLst>
          </p:cNvPr>
          <p:cNvSpPr txBox="1"/>
          <p:nvPr/>
        </p:nvSpPr>
        <p:spPr>
          <a:xfrm>
            <a:off x="1187408" y="345135"/>
            <a:ext cx="5069551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000" b="1" i="0" u="none" dirty="0">
                <a:solidFill>
                  <a:srgbClr val="F472B6"/>
                </a:solidFill>
                <a:latin typeface="Poppins"/>
              </a:rPr>
              <a:t>Randomness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-866775"/>
            <a:ext cx="381000" cy="381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20427" y="2988858"/>
            <a:ext cx="3360154" cy="5463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 dirty="0">
                <a:solidFill>
                  <a:srgbClr val="E2E8F0"/>
                </a:solidFill>
                <a:latin typeface="Poppins"/>
              </a:rPr>
              <a:t>Starter Code:</a:t>
            </a:r>
            <a:endParaRPr lang="en-US" sz="1950" b="1" i="0" u="none" dirty="0">
              <a:solidFill>
                <a:srgbClr val="E2E8F0"/>
              </a:solidFill>
              <a:latin typeface="Poppins"/>
            </a:endParaRPr>
          </a:p>
          <a:p>
            <a:r>
              <a:rPr lang="en-US" sz="1600" dirty="0">
                <a:solidFill>
                  <a:srgbClr val="CBD5E1"/>
                </a:solidFill>
                <a:latin typeface="Inter"/>
              </a:rPr>
              <a:t>Fix the question marks in your editor!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EA34231-5C14-6017-CE83-73D929D67C62}"/>
              </a:ext>
            </a:extLst>
          </p:cNvPr>
          <p:cNvSpPr/>
          <p:nvPr/>
        </p:nvSpPr>
        <p:spPr>
          <a:xfrm>
            <a:off x="478722" y="2581003"/>
            <a:ext cx="4762983" cy="3195938"/>
          </a:xfrm>
          <a:prstGeom prst="rect">
            <a:avLst/>
          </a:prstGeom>
          <a:solidFill>
            <a:srgbClr val="F472B6">
              <a:alpha val="10196"/>
            </a:srgbClr>
          </a:solidFill>
          <a:ln w="38100">
            <a:solidFill>
              <a:srgbClr val="F472B6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d-ID" b="1" dirty="0">
                <a:solidFill>
                  <a:srgbClr val="F472B6"/>
                </a:solidFill>
                <a:latin typeface="Poppins"/>
              </a:rPr>
              <a:t>The </a:t>
            </a:r>
            <a:r>
              <a:rPr lang="id-ID" b="1" dirty="0" err="1">
                <a:solidFill>
                  <a:srgbClr val="F472B6"/>
                </a:solidFill>
                <a:latin typeface="Poppins"/>
              </a:rPr>
              <a:t>Scenario</a:t>
            </a:r>
            <a:r>
              <a:rPr lang="id-ID" b="1" dirty="0">
                <a:solidFill>
                  <a:srgbClr val="F472B6"/>
                </a:solidFill>
                <a:latin typeface="Poppins"/>
              </a:rPr>
              <a:t>:</a:t>
            </a:r>
          </a:p>
          <a:p>
            <a:r>
              <a:rPr lang="en-US" sz="1400" dirty="0">
                <a:solidFill>
                  <a:srgbClr val="CBD5E1"/>
                </a:solidFill>
                <a:latin typeface="Inter"/>
              </a:rPr>
              <a:t>Your game window is </a:t>
            </a:r>
            <a:r>
              <a:rPr lang="en-US" sz="1400" b="1" dirty="0">
                <a:solidFill>
                  <a:srgbClr val="CBD5E1"/>
                </a:solidFill>
                <a:latin typeface="Inter"/>
              </a:rPr>
              <a:t>800 X 600 pixels</a:t>
            </a:r>
            <a:r>
              <a:rPr lang="en-US" sz="1400" dirty="0">
                <a:solidFill>
                  <a:srgbClr val="CBD5E1"/>
                </a:solidFill>
                <a:latin typeface="Inter"/>
              </a:rPr>
              <a:t>. You want to spawn a box of size </a:t>
            </a:r>
            <a:r>
              <a:rPr lang="en-US" sz="1400" b="1" dirty="0">
                <a:solidFill>
                  <a:srgbClr val="CBD5E1"/>
                </a:solidFill>
                <a:latin typeface="Inter"/>
              </a:rPr>
              <a:t>50x50</a:t>
            </a:r>
            <a:r>
              <a:rPr lang="en-US" sz="1400" dirty="0">
                <a:solidFill>
                  <a:srgbClr val="CBD5E1"/>
                </a:solidFill>
                <a:latin typeface="Inter"/>
              </a:rPr>
              <a:t> randomly.</a:t>
            </a:r>
          </a:p>
          <a:p>
            <a:endParaRPr lang="en-US" sz="1400" dirty="0">
              <a:solidFill>
                <a:srgbClr val="CBD5E1"/>
              </a:solidFill>
              <a:latin typeface="Inter"/>
            </a:endParaRPr>
          </a:p>
          <a:p>
            <a:r>
              <a:rPr lang="en-US" sz="1400" b="1" dirty="0">
                <a:solidFill>
                  <a:srgbClr val="CBD5E1"/>
                </a:solidFill>
                <a:latin typeface="Inter"/>
              </a:rPr>
              <a:t>Rule:</a:t>
            </a:r>
            <a:r>
              <a:rPr lang="en-US" sz="1400" dirty="0">
                <a:solidFill>
                  <a:srgbClr val="CBD5E1"/>
                </a:solidFill>
                <a:latin typeface="Inter"/>
              </a:rPr>
              <a:t> The box MUST NOT go off-screen!</a:t>
            </a:r>
          </a:p>
          <a:p>
            <a:endParaRPr lang="en-US" sz="1400" dirty="0">
              <a:solidFill>
                <a:srgbClr val="CBD5E1"/>
              </a:solidFill>
              <a:latin typeface="Inter"/>
            </a:endParaRPr>
          </a:p>
          <a:p>
            <a:r>
              <a:rPr lang="id-ID" b="1" dirty="0">
                <a:solidFill>
                  <a:srgbClr val="F472B6"/>
                </a:solidFill>
                <a:latin typeface="Poppins"/>
              </a:rPr>
              <a:t>The </a:t>
            </a:r>
            <a:r>
              <a:rPr lang="id-ID" b="1" dirty="0" err="1">
                <a:solidFill>
                  <a:srgbClr val="F472B6"/>
                </a:solidFill>
                <a:latin typeface="Poppins"/>
              </a:rPr>
              <a:t>Question</a:t>
            </a:r>
            <a:r>
              <a:rPr lang="id-ID" b="1" dirty="0">
                <a:solidFill>
                  <a:srgbClr val="F472B6"/>
                </a:solidFill>
                <a:latin typeface="Poppins"/>
              </a:rPr>
              <a:t>:</a:t>
            </a:r>
          </a:p>
          <a:p>
            <a:r>
              <a:rPr lang="en-US" sz="1400" dirty="0">
                <a:solidFill>
                  <a:srgbClr val="CBD5E1"/>
                </a:solidFill>
                <a:latin typeface="Inter"/>
              </a:rPr>
              <a:t>If the box is 50px wide, what is the maximum safe limit for the X coordinate so it doesn't get cut off on the right side?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905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6F480A7-912C-2548-F552-A2A501B5F291}"/>
              </a:ext>
            </a:extLst>
          </p:cNvPr>
          <p:cNvSpPr/>
          <p:nvPr/>
        </p:nvSpPr>
        <p:spPr>
          <a:xfrm>
            <a:off x="5528027" y="3725661"/>
            <a:ext cx="6185251" cy="2071868"/>
          </a:xfrm>
          <a:prstGeom prst="roundRect">
            <a:avLst/>
          </a:prstGeom>
          <a:solidFill>
            <a:srgbClr val="1E1C11">
              <a:alpha val="60000"/>
            </a:srgbClr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618FB"/>
                </a:solidFill>
                <a:latin typeface="Consolas" panose="020B0609020204030204" pitchFamily="49" charset="0"/>
              </a:rPr>
              <a:t>import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FFFF"/>
                </a:solidFill>
                <a:latin typeface="Consolas" panose="020B0609020204030204" pitchFamily="49" charset="0"/>
              </a:rPr>
              <a:t>random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#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TODO</a:t>
            </a:r>
            <a:r>
              <a:rPr lang="en-US" sz="1400" dirty="0">
                <a:latin typeface="Consolas" panose="020B0609020204030204" pitchFamily="49" charset="0"/>
              </a:rPr>
              <a:t>: Fix the max range so the 50px box stays inside the 800px window!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 err="1">
                <a:latin typeface="Consolas" panose="020B0609020204030204" pitchFamily="49" charset="0"/>
              </a:rPr>
              <a:t>box_x</a:t>
            </a:r>
            <a:r>
              <a:rPr lang="en-US" sz="1400" dirty="0"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FFFF"/>
                </a:solidFill>
                <a:latin typeface="Consolas" panose="020B0609020204030204" pitchFamily="49" charset="0"/>
              </a:rPr>
              <a:t>random</a:t>
            </a:r>
            <a:r>
              <a:rPr lang="en-US" sz="1400" dirty="0" err="1">
                <a:latin typeface="Consolas" panose="020B0609020204030204" pitchFamily="49" charset="0"/>
              </a:rPr>
              <a:t>.randint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latin typeface="Consolas" panose="020B0609020204030204" pitchFamily="49" charset="0"/>
              </a:rPr>
              <a:t>0, ???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sz="14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print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“Safe Box X:", 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</a:rPr>
              <a:t>box_x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33" name="Picture 32" descr="image.png">
            <a:extLst>
              <a:ext uri="{FF2B5EF4-FFF2-40B4-BE49-F238E27FC236}">
                <a16:creationId xmlns:a16="http://schemas.microsoft.com/office/drawing/2014/main" id="{0FF9E2E3-74AC-2DC6-15C0-DBEE7B5F6F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61975"/>
            <a:ext cx="381000" cy="3810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C39973D2-2FC3-DFFC-B861-220AB1417EA3}"/>
              </a:ext>
            </a:extLst>
          </p:cNvPr>
          <p:cNvSpPr txBox="1"/>
          <p:nvPr/>
        </p:nvSpPr>
        <p:spPr>
          <a:xfrm>
            <a:off x="708819" y="571500"/>
            <a:ext cx="11601450" cy="461665"/>
          </a:xfrm>
          <a:prstGeom prst="rect">
            <a:avLst/>
          </a:prstGeom>
          <a:noFill/>
        </p:spPr>
        <p:txBody>
          <a:bodyPr wrap="square" lIns="381000" tIns="0" rIns="0" bIns="0" anchor="t">
            <a:spAutoFit/>
          </a:bodyPr>
          <a:lstStyle/>
          <a:p>
            <a:r>
              <a:rPr lang="id-ID" sz="3000" b="1" i="0" u="none" dirty="0">
                <a:solidFill>
                  <a:srgbClr val="FACC15"/>
                </a:solidFill>
                <a:latin typeface="Poppins"/>
              </a:rPr>
              <a:t>Mini </a:t>
            </a:r>
            <a:r>
              <a:rPr lang="id-ID" sz="3000" b="1" i="0" u="none" dirty="0" err="1">
                <a:solidFill>
                  <a:srgbClr val="FACC15"/>
                </a:solidFill>
                <a:latin typeface="Poppins"/>
              </a:rPr>
              <a:t>Practice</a:t>
            </a:r>
            <a:r>
              <a:rPr lang="id-ID" sz="3000" b="1" i="0" u="none" dirty="0">
                <a:solidFill>
                  <a:srgbClr val="FACC15"/>
                </a:solidFill>
                <a:latin typeface="Poppins"/>
              </a:rPr>
              <a:t> 1: </a:t>
            </a:r>
            <a:r>
              <a:rPr lang="en-US" sz="3000" b="1" i="0" u="none" dirty="0">
                <a:solidFill>
                  <a:srgbClr val="FACC15"/>
                </a:solidFill>
                <a:latin typeface="Poppins"/>
              </a:rPr>
              <a:t>The Safe Border</a:t>
            </a:r>
            <a:endParaRPr lang="id-ID" sz="3000" b="1" i="0" u="none" dirty="0">
              <a:solidFill>
                <a:srgbClr val="FACC15"/>
              </a:solidFill>
              <a:latin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CA0375-CC04-F141-4E80-CAA456B8D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A188F846-4A36-BF71-4CCD-CD70341746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1ACD04-C8A1-10D7-11BE-D43B74FA5DC3}"/>
              </a:ext>
            </a:extLst>
          </p:cNvPr>
          <p:cNvSpPr txBox="1"/>
          <p:nvPr/>
        </p:nvSpPr>
        <p:spPr>
          <a:xfrm>
            <a:off x="456706" y="2187098"/>
            <a:ext cx="6492734" cy="2041841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marL="285750" indent="-285750">
              <a:lnSpc>
                <a:spcPts val="2025"/>
              </a:lnSpc>
              <a:buFont typeface="Arial" panose="020B0604020202020204" pitchFamily="34" charset="0"/>
              <a:buChar char="•"/>
            </a:pPr>
            <a:r>
              <a:rPr b="1" i="0" u="none" dirty="0">
                <a:solidFill>
                  <a:srgbClr val="CBD5E1"/>
                </a:solidFill>
                <a:latin typeface="Inter"/>
              </a:rPr>
              <a:t>The Problem</a:t>
            </a:r>
            <a:r>
              <a:rPr sz="1600" b="1" i="0" u="none" dirty="0">
                <a:solidFill>
                  <a:srgbClr val="CBD5E1"/>
                </a:solidFill>
                <a:latin typeface="Inter"/>
              </a:rPr>
              <a:t>:</a:t>
            </a:r>
            <a:r>
              <a:rPr sz="160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lang="en-US" sz="1600" dirty="0">
                <a:solidFill>
                  <a:srgbClr val="CBD5E1"/>
                </a:solidFill>
                <a:latin typeface="Inter"/>
              </a:rPr>
              <a:t>Typing </a:t>
            </a:r>
            <a:r>
              <a:rPr lang="en-US" sz="1600" dirty="0" err="1">
                <a:solidFill>
                  <a:srgbClr val="FFFF00"/>
                </a:solidFill>
                <a:latin typeface="Consolas" panose="020B0609020204030204" pitchFamily="49" charset="0"/>
              </a:rPr>
              <a:t>pygame.draw.rect</a:t>
            </a:r>
            <a:r>
              <a:rPr lang="en-US" sz="1600" dirty="0">
                <a:solidFill>
                  <a:srgbClr val="FFFF00"/>
                </a:solidFill>
                <a:latin typeface="Consolas" panose="020B0609020204030204" pitchFamily="49" charset="0"/>
              </a:rPr>
              <a:t>() </a:t>
            </a:r>
            <a:r>
              <a:rPr lang="en-US" sz="1600" dirty="0">
                <a:solidFill>
                  <a:srgbClr val="CBD5E1"/>
                </a:solidFill>
                <a:latin typeface="Inter"/>
              </a:rPr>
              <a:t>100 times manually is exhausting.</a:t>
            </a:r>
            <a:endParaRPr lang="en-US" sz="1600" b="0" i="0" u="none" dirty="0">
              <a:solidFill>
                <a:srgbClr val="CBD5E1"/>
              </a:solidFill>
              <a:latin typeface="Inter"/>
            </a:endParaRPr>
          </a:p>
          <a:p>
            <a:pPr marL="285750" indent="-285750" algn="l">
              <a:lnSpc>
                <a:spcPts val="2025"/>
              </a:lnSpc>
              <a:buFont typeface="Arial" panose="020B0604020202020204" pitchFamily="34" charset="0"/>
              <a:buChar char="•"/>
            </a:pPr>
            <a:endParaRPr lang="en-US" sz="1600" b="0" i="0" u="none" dirty="0">
              <a:solidFill>
                <a:srgbClr val="CBD5E1"/>
              </a:solidFill>
              <a:latin typeface="Inter"/>
            </a:endParaRPr>
          </a:p>
          <a:p>
            <a:pPr marL="285750" indent="-285750">
              <a:lnSpc>
                <a:spcPts val="2025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BD5E1"/>
                </a:solidFill>
                <a:latin typeface="Inter"/>
              </a:rPr>
              <a:t>The Solution</a:t>
            </a:r>
            <a:r>
              <a:rPr lang="en-US" sz="1600" b="1" dirty="0">
                <a:solidFill>
                  <a:srgbClr val="CBD5E1"/>
                </a:solidFill>
                <a:latin typeface="Inter"/>
              </a:rPr>
              <a:t>:</a:t>
            </a:r>
            <a:r>
              <a:rPr lang="en-US" sz="1600" dirty="0">
                <a:solidFill>
                  <a:srgbClr val="CBD5E1"/>
                </a:solidFill>
                <a:latin typeface="Inter"/>
              </a:rPr>
              <a:t> Hire a digital robot to repeat the command instantly!</a:t>
            </a:r>
          </a:p>
          <a:p>
            <a:pPr>
              <a:lnSpc>
                <a:spcPts val="2025"/>
              </a:lnSpc>
            </a:pPr>
            <a:endParaRPr lang="en-US" sz="1600" dirty="0">
              <a:solidFill>
                <a:srgbClr val="CBD5E1"/>
              </a:solidFill>
              <a:latin typeface="Inter"/>
            </a:endParaRPr>
          </a:p>
          <a:p>
            <a:pPr marL="285750" indent="-285750">
              <a:lnSpc>
                <a:spcPts val="2025"/>
              </a:lnSpc>
              <a:buFont typeface="Arial" panose="020B0604020202020204" pitchFamily="34" charset="0"/>
              <a:buChar char="•"/>
            </a:pPr>
            <a:r>
              <a:rPr lang="id-ID" b="1" dirty="0">
                <a:solidFill>
                  <a:srgbClr val="CBD5E1"/>
                </a:solidFill>
                <a:latin typeface="Inter"/>
              </a:rPr>
              <a:t>The </a:t>
            </a:r>
            <a:r>
              <a:rPr lang="id-ID" b="1" dirty="0" err="1">
                <a:solidFill>
                  <a:srgbClr val="CBD5E1"/>
                </a:solidFill>
                <a:latin typeface="Inter"/>
              </a:rPr>
              <a:t>Command</a:t>
            </a:r>
            <a:r>
              <a:rPr lang="id-ID" sz="1600" b="1" dirty="0">
                <a:solidFill>
                  <a:srgbClr val="CBD5E1"/>
                </a:solidFill>
                <a:latin typeface="Inter"/>
              </a:rPr>
              <a:t>:</a:t>
            </a:r>
            <a:r>
              <a:rPr lang="en-US" sz="1600" b="1" dirty="0">
                <a:solidFill>
                  <a:srgbClr val="CBD5E1"/>
                </a:solidFill>
                <a:latin typeface="Inter"/>
              </a:rPr>
              <a:t> </a:t>
            </a:r>
            <a:r>
              <a:rPr lang="en-US" sz="1600" b="1" dirty="0">
                <a:solidFill>
                  <a:srgbClr val="FFFF00"/>
                </a:solidFill>
                <a:latin typeface="Consolas" panose="020B0609020204030204" pitchFamily="49" charset="0"/>
                <a:cs typeface="Lao UI" panose="020F0502020204030204" pitchFamily="34" charset="0"/>
              </a:rPr>
              <a:t>for </a:t>
            </a:r>
            <a:r>
              <a:rPr lang="en-US" sz="1600" b="1" dirty="0" err="1">
                <a:solidFill>
                  <a:srgbClr val="FFFF00"/>
                </a:solidFill>
                <a:latin typeface="Consolas" panose="020B0609020204030204" pitchFamily="49" charset="0"/>
                <a:cs typeface="Lao UI" panose="020F0502020204030204" pitchFamily="34" charset="0"/>
              </a:rPr>
              <a:t>i</a:t>
            </a:r>
            <a:r>
              <a:rPr lang="en-US" sz="1600" b="1" dirty="0">
                <a:solidFill>
                  <a:srgbClr val="FFFF00"/>
                </a:solidFill>
                <a:latin typeface="Consolas" panose="020B0609020204030204" pitchFamily="49" charset="0"/>
                <a:cs typeface="Lao UI" panose="020F0502020204030204" pitchFamily="34" charset="0"/>
              </a:rPr>
              <a:t> in range (N) </a:t>
            </a:r>
            <a:r>
              <a:rPr lang="en-US" sz="1600" dirty="0">
                <a:solidFill>
                  <a:srgbClr val="CBD5E1"/>
                </a:solidFill>
                <a:latin typeface="Inter"/>
              </a:rPr>
              <a:t>tells Python how many times to repeat. </a:t>
            </a:r>
            <a:endParaRPr lang="id-ID" sz="1600" b="1" dirty="0">
              <a:solidFill>
                <a:srgbClr val="CBD5E1"/>
              </a:solidFill>
              <a:latin typeface="Inter"/>
            </a:endParaRPr>
          </a:p>
          <a:p>
            <a:pPr>
              <a:lnSpc>
                <a:spcPts val="2025"/>
              </a:lnSpc>
            </a:pPr>
            <a:endParaRPr lang="en-US" sz="1600" dirty="0">
              <a:solidFill>
                <a:srgbClr val="CBD5E1"/>
              </a:solidFill>
              <a:latin typeface="Inter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84C49D-39FC-6F5D-DA1E-ABE703D61D16}"/>
              </a:ext>
            </a:extLst>
          </p:cNvPr>
          <p:cNvSpPr txBox="1"/>
          <p:nvPr/>
        </p:nvSpPr>
        <p:spPr>
          <a:xfrm>
            <a:off x="502454" y="1208939"/>
            <a:ext cx="1160145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i="0" u="none" dirty="0">
                <a:solidFill>
                  <a:srgbClr val="F8FAFC"/>
                </a:solidFill>
                <a:latin typeface="Poppins"/>
              </a:rPr>
              <a:t>Concept </a:t>
            </a:r>
            <a:r>
              <a:rPr lang="en-US" sz="2000" b="1" i="0" u="none" dirty="0">
                <a:solidFill>
                  <a:srgbClr val="F8FAFC"/>
                </a:solidFill>
                <a:latin typeface="Poppins"/>
              </a:rPr>
              <a:t>2</a:t>
            </a:r>
            <a:r>
              <a:rPr sz="2000" b="1" i="0" u="none" dirty="0">
                <a:solidFill>
                  <a:srgbClr val="F8FAFC"/>
                </a:solidFill>
                <a:latin typeface="Poppins"/>
              </a:rPr>
              <a:t>: </a:t>
            </a:r>
            <a:r>
              <a:rPr lang="en-US" sz="2000" b="1" dirty="0">
                <a:solidFill>
                  <a:srgbClr val="F8FAFC"/>
                </a:solidFill>
                <a:latin typeface="Poppins"/>
              </a:rPr>
              <a:t>The Power of For Loops 🔄</a:t>
            </a:r>
            <a:endParaRPr sz="2000" b="1" i="0" u="none" dirty="0">
              <a:solidFill>
                <a:srgbClr val="F8FAFC"/>
              </a:solidFill>
              <a:latin typeface="Poppin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5505E0-7608-1897-38B9-011A4B6958DE}"/>
              </a:ext>
            </a:extLst>
          </p:cNvPr>
          <p:cNvSpPr/>
          <p:nvPr/>
        </p:nvSpPr>
        <p:spPr>
          <a:xfrm>
            <a:off x="571500" y="114300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207F87E-911F-C551-D87B-5B9DDE78FA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80291" y="1428566"/>
            <a:ext cx="4340209" cy="4340209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45E6529-BCF0-778B-E53D-508505E1BD2B}"/>
              </a:ext>
            </a:extLst>
          </p:cNvPr>
          <p:cNvSpPr/>
          <p:nvPr/>
        </p:nvSpPr>
        <p:spPr>
          <a:xfrm>
            <a:off x="571500" y="4135120"/>
            <a:ext cx="6004247" cy="1737360"/>
          </a:xfrm>
          <a:prstGeom prst="roundRect">
            <a:avLst/>
          </a:prstGeom>
          <a:solidFill>
            <a:srgbClr val="1E1C11">
              <a:alpha val="60000"/>
            </a:srgbClr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618FB"/>
                </a:solidFill>
                <a:latin typeface="Consolas" panose="020B0609020204030204" pitchFamily="49" charset="0"/>
              </a:rPr>
              <a:t>import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FFFF"/>
                </a:solidFill>
                <a:latin typeface="Consolas" panose="020B0609020204030204" pitchFamily="49" charset="0"/>
              </a:rPr>
              <a:t>random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#“Robot, repeat this drawing action 50 times in a split second!”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for </a:t>
            </a:r>
            <a:r>
              <a:rPr lang="en-US" sz="1400" dirty="0" err="1">
                <a:latin typeface="Consolas" panose="020B0609020204030204" pitchFamily="49" charset="0"/>
              </a:rPr>
              <a:t>i</a:t>
            </a:r>
            <a:r>
              <a:rPr lang="en-US" sz="1400" dirty="0">
                <a:latin typeface="Consolas" panose="020B0609020204030204" pitchFamily="49" charset="0"/>
              </a:rPr>
              <a:t> in range(50):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#drawing code goes here …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  <a:r>
              <a:rPr lang="en-US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print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“Drawing shape number:", 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D09D75-8AFB-8135-EBCE-237EA0308720}"/>
              </a:ext>
            </a:extLst>
          </p:cNvPr>
          <p:cNvSpPr txBox="1"/>
          <p:nvPr/>
        </p:nvSpPr>
        <p:spPr>
          <a:xfrm>
            <a:off x="1187408" y="345135"/>
            <a:ext cx="5069551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4000" b="1" dirty="0">
                <a:solidFill>
                  <a:srgbClr val="FACC15"/>
                </a:solidFill>
                <a:latin typeface="Poppins"/>
              </a:rPr>
              <a:t>For </a:t>
            </a:r>
            <a:r>
              <a:rPr lang="id-ID" sz="4000" b="1" dirty="0" err="1">
                <a:solidFill>
                  <a:srgbClr val="FACC15"/>
                </a:solidFill>
                <a:latin typeface="Poppins"/>
              </a:rPr>
              <a:t>Loops</a:t>
            </a:r>
            <a:endParaRPr sz="4000" b="1" i="0" u="none" dirty="0">
              <a:solidFill>
                <a:srgbClr val="F472B6"/>
              </a:solidFill>
              <a:latin typeface="Poppins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7DB0438-7864-24ED-79B6-6B65B7EA96FC}"/>
              </a:ext>
            </a:extLst>
          </p:cNvPr>
          <p:cNvGrpSpPr/>
          <p:nvPr/>
        </p:nvGrpSpPr>
        <p:grpSpPr>
          <a:xfrm>
            <a:off x="383391" y="318192"/>
            <a:ext cx="666750" cy="666750"/>
            <a:chOff x="264329" y="418842"/>
            <a:chExt cx="666750" cy="666750"/>
          </a:xfrm>
        </p:grpSpPr>
        <p:pic>
          <p:nvPicPr>
            <p:cNvPr id="38" name="Picture 37" descr="image.png">
              <a:extLst>
                <a:ext uri="{FF2B5EF4-FFF2-40B4-BE49-F238E27FC236}">
                  <a16:creationId xmlns:a16="http://schemas.microsoft.com/office/drawing/2014/main" id="{ED8E9C1F-7B74-76F2-77C3-3E60E51111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4329" y="418842"/>
              <a:ext cx="666750" cy="666750"/>
            </a:xfrm>
            <a:prstGeom prst="rect">
              <a:avLst/>
            </a:prstGeom>
          </p:spPr>
        </p:pic>
        <p:pic>
          <p:nvPicPr>
            <p:cNvPr id="39" name="Picture 38" descr="image.png">
              <a:extLst>
                <a:ext uri="{FF2B5EF4-FFF2-40B4-BE49-F238E27FC236}">
                  <a16:creationId xmlns:a16="http://schemas.microsoft.com/office/drawing/2014/main" id="{1164B8B5-76D5-AC68-671A-CE1511879BF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6254" y="580767"/>
              <a:ext cx="342900" cy="342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67173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76AF20-56DE-B905-ECD8-6D39089A6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65D40C22-FE32-21A8-683D-5D91C62054B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FE9D2EAF-5E29-4BF0-9DC5-9432EFB6B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-866775"/>
            <a:ext cx="381000" cy="381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4B9D779-BAC4-4894-211C-316FE8D2201A}"/>
              </a:ext>
            </a:extLst>
          </p:cNvPr>
          <p:cNvSpPr txBox="1"/>
          <p:nvPr/>
        </p:nvSpPr>
        <p:spPr>
          <a:xfrm>
            <a:off x="5720427" y="2988858"/>
            <a:ext cx="3360154" cy="5463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 dirty="0">
                <a:solidFill>
                  <a:srgbClr val="E2E8F0"/>
                </a:solidFill>
                <a:latin typeface="Poppins"/>
              </a:rPr>
              <a:t>Starter Code:</a:t>
            </a:r>
            <a:endParaRPr lang="en-US" sz="1950" b="1" i="0" u="none" dirty="0">
              <a:solidFill>
                <a:srgbClr val="E2E8F0"/>
              </a:solidFill>
              <a:latin typeface="Poppins"/>
            </a:endParaRPr>
          </a:p>
          <a:p>
            <a:pPr>
              <a:lnSpc>
                <a:spcPts val="2025"/>
              </a:lnSpc>
            </a:pPr>
            <a:r>
              <a:rPr lang="en-US" sz="1600" dirty="0">
                <a:solidFill>
                  <a:srgbClr val="CBD5E1"/>
                </a:solidFill>
                <a:latin typeface="Inter"/>
              </a:rPr>
              <a:t>Use math to fix the print statement!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B042AF3-2131-851B-A720-635C7B875888}"/>
              </a:ext>
            </a:extLst>
          </p:cNvPr>
          <p:cNvSpPr/>
          <p:nvPr/>
        </p:nvSpPr>
        <p:spPr>
          <a:xfrm>
            <a:off x="478722" y="2581003"/>
            <a:ext cx="4762983" cy="3195938"/>
          </a:xfrm>
          <a:prstGeom prst="rect">
            <a:avLst/>
          </a:prstGeom>
          <a:solidFill>
            <a:srgbClr val="F472B6">
              <a:alpha val="10196"/>
            </a:srgbClr>
          </a:solidFill>
          <a:ln w="38100">
            <a:solidFill>
              <a:srgbClr val="F472B6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d-ID" b="1" dirty="0">
                <a:solidFill>
                  <a:srgbClr val="F472B6"/>
                </a:solidFill>
                <a:latin typeface="Poppins"/>
              </a:rPr>
              <a:t>The </a:t>
            </a:r>
            <a:r>
              <a:rPr lang="id-ID" b="1" dirty="0" err="1">
                <a:solidFill>
                  <a:srgbClr val="F472B6"/>
                </a:solidFill>
                <a:latin typeface="Poppins"/>
              </a:rPr>
              <a:t>Scenario</a:t>
            </a:r>
            <a:r>
              <a:rPr lang="id-ID" b="1" dirty="0">
                <a:solidFill>
                  <a:srgbClr val="F472B6"/>
                </a:solidFill>
                <a:latin typeface="Poppins"/>
              </a:rPr>
              <a:t>:</a:t>
            </a:r>
          </a:p>
          <a:p>
            <a:pPr>
              <a:lnSpc>
                <a:spcPts val="2025"/>
              </a:lnSpc>
            </a:pPr>
            <a:r>
              <a:rPr lang="en-US" sz="1400" dirty="0">
                <a:solidFill>
                  <a:srgbClr val="CBD5E1"/>
                </a:solidFill>
                <a:latin typeface="Inter"/>
              </a:rPr>
              <a:t>You want a loop to run </a:t>
            </a:r>
            <a:r>
              <a:rPr lang="en-US" sz="1400" b="1" dirty="0">
                <a:solidFill>
                  <a:srgbClr val="CBD5E1"/>
                </a:solidFill>
                <a:latin typeface="Inter"/>
              </a:rPr>
              <a:t>10 times</a:t>
            </a:r>
            <a:r>
              <a:rPr lang="en-US" sz="1400" dirty="0">
                <a:solidFill>
                  <a:srgbClr val="CBD5E1"/>
                </a:solidFill>
                <a:latin typeface="Inter"/>
              </a:rPr>
              <a:t>. But instead of printing standard numbers (0 to 9), you want to print scaled steps: </a:t>
            </a:r>
            <a:r>
              <a:rPr lang="en-US" sz="1400" b="1" dirty="0">
                <a:solidFill>
                  <a:srgbClr val="CBD5E1"/>
                </a:solidFill>
                <a:latin typeface="Inter"/>
              </a:rPr>
              <a:t>0, 10, 20, 30...</a:t>
            </a:r>
            <a:endParaRPr lang="en-US" sz="1400" dirty="0">
              <a:solidFill>
                <a:srgbClr val="CBD5E1"/>
              </a:solidFill>
              <a:latin typeface="Inter"/>
            </a:endParaRPr>
          </a:p>
          <a:p>
            <a:r>
              <a:rPr lang="en-US" sz="1400" b="1" dirty="0">
                <a:solidFill>
                  <a:srgbClr val="CBD5E1"/>
                </a:solidFill>
                <a:latin typeface="Inter"/>
              </a:rPr>
              <a:t>Rule:</a:t>
            </a:r>
            <a:r>
              <a:rPr lang="en-US" sz="1400" dirty="0">
                <a:solidFill>
                  <a:srgbClr val="CBD5E1"/>
                </a:solidFill>
                <a:latin typeface="Inter"/>
              </a:rPr>
              <a:t> The box MUST NOT go off-screen!</a:t>
            </a:r>
          </a:p>
          <a:p>
            <a:endParaRPr lang="en-US" sz="1400" dirty="0">
              <a:solidFill>
                <a:srgbClr val="CBD5E1"/>
              </a:solidFill>
              <a:latin typeface="Inter"/>
            </a:endParaRPr>
          </a:p>
          <a:p>
            <a:r>
              <a:rPr lang="id-ID" b="1" dirty="0">
                <a:solidFill>
                  <a:srgbClr val="F472B6"/>
                </a:solidFill>
                <a:latin typeface="Poppins"/>
              </a:rPr>
              <a:t>The </a:t>
            </a:r>
            <a:r>
              <a:rPr lang="id-ID" b="1" dirty="0" err="1">
                <a:solidFill>
                  <a:srgbClr val="F472B6"/>
                </a:solidFill>
                <a:latin typeface="Poppins"/>
              </a:rPr>
              <a:t>Question</a:t>
            </a:r>
            <a:r>
              <a:rPr lang="id-ID" b="1" dirty="0">
                <a:solidFill>
                  <a:srgbClr val="F472B6"/>
                </a:solidFill>
                <a:latin typeface="Poppins"/>
              </a:rPr>
              <a:t>:</a:t>
            </a:r>
          </a:p>
          <a:p>
            <a:pPr>
              <a:lnSpc>
                <a:spcPts val="2025"/>
              </a:lnSpc>
            </a:pPr>
            <a:r>
              <a:rPr lang="en-US" sz="1400" dirty="0">
                <a:solidFill>
                  <a:srgbClr val="CBD5E1"/>
                </a:solidFill>
                <a:latin typeface="Inter"/>
              </a:rPr>
              <a:t>How do you use the loop variable </a:t>
            </a:r>
            <a:r>
              <a:rPr lang="en-US" sz="1400" dirty="0" err="1">
                <a:solidFill>
                  <a:srgbClr val="FFFF00"/>
                </a:solidFill>
                <a:latin typeface="Consolas" panose="020B0609020204030204" pitchFamily="49" charset="0"/>
                <a:cs typeface="Lao UI" panose="020F0502020204030204" pitchFamily="34" charset="0"/>
              </a:rPr>
              <a:t>i</a:t>
            </a:r>
            <a:r>
              <a:rPr lang="en-US" sz="1400" dirty="0">
                <a:solidFill>
                  <a:srgbClr val="CBD5E1"/>
                </a:solidFill>
                <a:latin typeface="Inter"/>
              </a:rPr>
              <a:t> to scale the output without changing 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  <a:cs typeface="Lao UI" panose="020F0502020204030204" pitchFamily="34" charset="0"/>
              </a:rPr>
              <a:t>range(10)</a:t>
            </a:r>
            <a:r>
              <a:rPr lang="en-US" sz="1400" dirty="0">
                <a:solidFill>
                  <a:srgbClr val="CBD5E1"/>
                </a:solidFill>
                <a:latin typeface="Inter"/>
              </a:rPr>
              <a:t> 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573A5B-BC89-21B2-A6F9-2FECD7DF9EEA}"/>
              </a:ext>
            </a:extLst>
          </p:cNvPr>
          <p:cNvSpPr/>
          <p:nvPr/>
        </p:nvSpPr>
        <p:spPr>
          <a:xfrm>
            <a:off x="571500" y="1905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B8283F1-AA99-0246-7F9D-8C824F24A296}"/>
              </a:ext>
            </a:extLst>
          </p:cNvPr>
          <p:cNvSpPr/>
          <p:nvPr/>
        </p:nvSpPr>
        <p:spPr>
          <a:xfrm>
            <a:off x="5528027" y="3725661"/>
            <a:ext cx="6185251" cy="2071868"/>
          </a:xfrm>
          <a:prstGeom prst="roundRect">
            <a:avLst/>
          </a:prstGeom>
          <a:solidFill>
            <a:srgbClr val="1E1C11">
              <a:alpha val="60000"/>
            </a:srgbClr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618FB"/>
                </a:solidFill>
                <a:latin typeface="Consolas" panose="020B0609020204030204" pitchFamily="49" charset="0"/>
              </a:rPr>
              <a:t>for 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618FB"/>
                </a:solidFill>
                <a:latin typeface="Consolas" panose="020B0609020204030204" pitchFamily="49" charset="0"/>
              </a:rPr>
              <a:t>in </a:t>
            </a:r>
            <a:r>
              <a:rPr lang="en-US" sz="1400" dirty="0">
                <a:solidFill>
                  <a:srgbClr val="00FFFF"/>
                </a:solidFill>
                <a:latin typeface="Consolas" panose="020B0609020204030204" pitchFamily="49" charset="0"/>
              </a:rPr>
              <a:t>range 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  <a:cs typeface="Lao UI" panose="020F0502020204030204" pitchFamily="34" charset="0"/>
              </a:rPr>
              <a:t>(10)</a:t>
            </a:r>
            <a:r>
              <a:rPr lang="en-US" sz="1400" dirty="0">
                <a:solidFill>
                  <a:srgbClr val="CBD5E1"/>
                </a:solidFill>
                <a:latin typeface="Inter"/>
              </a:rPr>
              <a:t> </a:t>
            </a:r>
          </a:p>
          <a:p>
            <a:endParaRPr lang="en-US" sz="1400" dirty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#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TODO</a:t>
            </a:r>
            <a:r>
              <a:rPr lang="en-US" sz="1400" dirty="0">
                <a:latin typeface="Consolas" panose="020B0609020204030204" pitchFamily="49" charset="0"/>
              </a:rPr>
              <a:t>: Multiply '</a:t>
            </a:r>
            <a:r>
              <a:rPr lang="en-US" sz="1400" dirty="0" err="1">
                <a:latin typeface="Consolas" panose="020B0609020204030204" pitchFamily="49" charset="0"/>
              </a:rPr>
              <a:t>i</a:t>
            </a:r>
            <a:r>
              <a:rPr lang="en-US" sz="1400" dirty="0">
                <a:latin typeface="Consolas" panose="020B0609020204030204" pitchFamily="49" charset="0"/>
              </a:rPr>
              <a:t>' by a number to scale the step!</a:t>
            </a:r>
          </a:p>
          <a:p>
            <a:endParaRPr lang="en-US" sz="14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print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“Coordinate step:", </a:t>
            </a:r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???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33" name="Picture 32" descr="image.png">
            <a:extLst>
              <a:ext uri="{FF2B5EF4-FFF2-40B4-BE49-F238E27FC236}">
                <a16:creationId xmlns:a16="http://schemas.microsoft.com/office/drawing/2014/main" id="{840CF701-8B01-95C1-9095-96E1654056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61975"/>
            <a:ext cx="381000" cy="3810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71FDFB26-4B70-7456-5040-C47F44BE802A}"/>
              </a:ext>
            </a:extLst>
          </p:cNvPr>
          <p:cNvSpPr txBox="1"/>
          <p:nvPr/>
        </p:nvSpPr>
        <p:spPr>
          <a:xfrm>
            <a:off x="708819" y="571500"/>
            <a:ext cx="11601450" cy="461665"/>
          </a:xfrm>
          <a:prstGeom prst="rect">
            <a:avLst/>
          </a:prstGeom>
          <a:noFill/>
        </p:spPr>
        <p:txBody>
          <a:bodyPr wrap="square" lIns="381000" tIns="0" rIns="0" bIns="0" anchor="t">
            <a:spAutoFit/>
          </a:bodyPr>
          <a:lstStyle/>
          <a:p>
            <a:r>
              <a:rPr lang="id-ID" sz="3000" b="1" i="0" u="none" dirty="0">
                <a:solidFill>
                  <a:srgbClr val="FACC15"/>
                </a:solidFill>
                <a:latin typeface="Poppins"/>
              </a:rPr>
              <a:t>Mini </a:t>
            </a:r>
            <a:r>
              <a:rPr lang="id-ID" sz="3000" b="1" i="0" u="none" dirty="0" err="1">
                <a:solidFill>
                  <a:srgbClr val="FACC15"/>
                </a:solidFill>
                <a:latin typeface="Poppins"/>
              </a:rPr>
              <a:t>Practice</a:t>
            </a:r>
            <a:r>
              <a:rPr lang="id-ID" sz="3000" b="1" i="0" u="none" dirty="0">
                <a:solidFill>
                  <a:srgbClr val="FACC15"/>
                </a:solidFill>
                <a:latin typeface="Poppins"/>
              </a:rPr>
              <a:t> </a:t>
            </a:r>
            <a:r>
              <a:rPr lang="en-US" sz="3000" b="1" dirty="0">
                <a:solidFill>
                  <a:srgbClr val="FACC15"/>
                </a:solidFill>
                <a:latin typeface="Poppins"/>
              </a:rPr>
              <a:t>2</a:t>
            </a:r>
            <a:r>
              <a:rPr lang="id-ID" sz="3000" b="1" i="0" u="none" dirty="0">
                <a:solidFill>
                  <a:srgbClr val="FACC15"/>
                </a:solidFill>
                <a:latin typeface="Poppins"/>
              </a:rPr>
              <a:t>: </a:t>
            </a:r>
            <a:r>
              <a:rPr lang="en-US" sz="3000" b="1" i="0" u="none" dirty="0">
                <a:solidFill>
                  <a:srgbClr val="FACC15"/>
                </a:solidFill>
                <a:latin typeface="Poppins"/>
              </a:rPr>
              <a:t>The Step Counter</a:t>
            </a:r>
            <a:endParaRPr lang="id-ID" sz="3000" b="1" i="0" u="none" dirty="0">
              <a:solidFill>
                <a:srgbClr val="FACC15"/>
              </a:solidFill>
              <a:latin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098639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512125"/>
            <a:ext cx="3492549" cy="252219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3512125"/>
            <a:ext cx="3492549" cy="252219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3512125"/>
            <a:ext cx="3492549" cy="252219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61975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4325" y="3807400"/>
            <a:ext cx="666750" cy="666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07561" y="4664650"/>
            <a:ext cx="2220277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1" i="0" u="none">
                <a:solidFill>
                  <a:srgbClr val="E2E8F0"/>
                </a:solidFill>
                <a:latin typeface="Poppins"/>
              </a:rPr>
              <a:t>1. Setup the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5131375"/>
            <a:ext cx="2997249" cy="444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 dirty="0">
                <a:solidFill>
                  <a:srgbClr val="CBD5E1"/>
                </a:solidFill>
                <a:latin typeface="Inter"/>
              </a:rPr>
              <a:t>Start with </a:t>
            </a:r>
            <a:r>
              <a:rPr lang="en-US" sz="1200" dirty="0">
                <a:solidFill>
                  <a:srgbClr val="FFFF00"/>
                </a:solidFill>
                <a:latin typeface="Consolas" panose="020B0609020204030204" pitchFamily="49" charset="0"/>
              </a:rPr>
              <a:t>for </a:t>
            </a:r>
            <a:r>
              <a:rPr lang="en-US" sz="1200" dirty="0" err="1">
                <a:solidFill>
                  <a:srgbClr val="FFFF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FFFF00"/>
                </a:solidFill>
                <a:latin typeface="Consolas" panose="020B0609020204030204" pitchFamily="49" charset="0"/>
              </a:rPr>
              <a:t> in range(50) </a:t>
            </a:r>
            <a:r>
              <a:rPr sz="1200" b="0" i="0" u="none" dirty="0">
                <a:solidFill>
                  <a:srgbClr val="CBD5E1"/>
                </a:solidFill>
                <a:latin typeface="Inter"/>
              </a:rPr>
              <a:t>to tell your computer to draw 50 items.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2625" y="3807400"/>
            <a:ext cx="666750" cy="6667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95887" y="4664650"/>
            <a:ext cx="180022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1" i="0" u="none">
                <a:solidFill>
                  <a:srgbClr val="E2E8F0"/>
                </a:solidFill>
                <a:latin typeface="Poppins"/>
              </a:rPr>
              <a:t>2. Randomize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7449" y="5131375"/>
            <a:ext cx="299724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Inside the loop, generate random </a:t>
            </a:r>
            <a:r>
              <a:rPr sz="1200" b="1" i="0" u="none">
                <a:solidFill>
                  <a:srgbClr val="CBD5E1"/>
                </a:solidFill>
                <a:latin typeface="Inter"/>
              </a:rPr>
              <a:t>X, Y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positions and random </a:t>
            </a:r>
            <a:r>
              <a:rPr sz="1200" b="1" i="0" u="none">
                <a:solidFill>
                  <a:srgbClr val="CBD5E1"/>
                </a:solidFill>
                <a:latin typeface="Inter"/>
              </a:rPr>
              <a:t>R, G, B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colors.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40924" y="3807400"/>
            <a:ext cx="666750" cy="6667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324230" y="4664650"/>
            <a:ext cx="1100137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1" i="0" u="none">
                <a:solidFill>
                  <a:srgbClr val="E2E8F0"/>
                </a:solidFill>
                <a:latin typeface="Poppins"/>
              </a:rPr>
              <a:t>3. Draw!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749" y="5131375"/>
            <a:ext cx="2997249" cy="444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 dirty="0">
                <a:solidFill>
                  <a:srgbClr val="CBD5E1"/>
                </a:solidFill>
                <a:latin typeface="Inter"/>
              </a:rPr>
              <a:t>Use </a:t>
            </a:r>
            <a:r>
              <a:rPr lang="en-US" sz="1200" b="0" i="0" u="none" dirty="0" err="1">
                <a:solidFill>
                  <a:srgbClr val="FFFF00"/>
                </a:solidFill>
                <a:latin typeface="Consolas" panose="020B0609020204030204" pitchFamily="49" charset="0"/>
              </a:rPr>
              <a:t>pygame.</a:t>
            </a:r>
            <a:r>
              <a:rPr lang="en-US" sz="1200" dirty="0" err="1">
                <a:solidFill>
                  <a:srgbClr val="FFFF00"/>
                </a:solidFill>
                <a:latin typeface="Consolas" panose="020B0609020204030204" pitchFamily="49" charset="0"/>
              </a:rPr>
              <a:t>draw.rect</a:t>
            </a:r>
            <a:r>
              <a:rPr lang="en-US" sz="1200" dirty="0">
                <a:solidFill>
                  <a:srgbClr val="FFFF00"/>
                </a:solidFill>
                <a:latin typeface="Consolas" panose="020B0609020204030204" pitchFamily="49" charset="0"/>
              </a:rPr>
              <a:t>() </a:t>
            </a:r>
            <a:r>
              <a:rPr sz="1200" b="0" i="0" u="none" dirty="0">
                <a:solidFill>
                  <a:srgbClr val="CBD5E1"/>
                </a:solidFill>
                <a:latin typeface="Inter"/>
              </a:rPr>
              <a:t>using the random variables you just created.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46250" y="3969325"/>
            <a:ext cx="342900" cy="3429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24550" y="3969325"/>
            <a:ext cx="342900" cy="3429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02849" y="3969325"/>
            <a:ext cx="342900" cy="3429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08819" y="571500"/>
            <a:ext cx="11601450" cy="590550"/>
          </a:xfrm>
          <a:prstGeom prst="rect">
            <a:avLst/>
          </a:prstGeom>
          <a:noFill/>
        </p:spPr>
        <p:txBody>
          <a:bodyPr wrap="square" lIns="38100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FACC15"/>
                </a:solidFill>
                <a:latin typeface="Poppins"/>
              </a:rPr>
              <a:t>Mini Practice 3: The Fusion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114300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71500" y="1447800"/>
            <a:ext cx="11049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Write a script using a </a:t>
            </a:r>
            <a:r>
              <a:rPr sz="1500" b="1" i="0" u="none">
                <a:solidFill>
                  <a:srgbClr val="CBD5E1"/>
                </a:solidFill>
                <a:latin typeface="Inter"/>
              </a:rPr>
              <a:t>for loop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to draw </a:t>
            </a:r>
            <a:r>
              <a:rPr sz="1500" b="1" i="0" u="none">
                <a:solidFill>
                  <a:srgbClr val="CBD5E1"/>
                </a:solidFill>
                <a:latin typeface="Inter"/>
              </a:rPr>
              <a:t>50 squares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on your PyGame window. Every square must have a random position and random color.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6223B0E-3022-D677-CEA2-CCB830B79CA0}"/>
              </a:ext>
            </a:extLst>
          </p:cNvPr>
          <p:cNvSpPr/>
          <p:nvPr/>
        </p:nvSpPr>
        <p:spPr>
          <a:xfrm>
            <a:off x="590215" y="2199372"/>
            <a:ext cx="5079066" cy="763984"/>
          </a:xfrm>
          <a:prstGeom prst="rect">
            <a:avLst/>
          </a:prstGeom>
          <a:solidFill>
            <a:srgbClr val="F472B6">
              <a:alpha val="10196"/>
            </a:srgbClr>
          </a:solidFill>
          <a:ln w="38100">
            <a:solidFill>
              <a:srgbClr val="F472B6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F472B6"/>
                </a:solidFill>
                <a:latin typeface="Poppins"/>
              </a:rPr>
              <a:t>The Rule:</a:t>
            </a:r>
            <a:endParaRPr lang="id-ID" b="1" dirty="0">
              <a:solidFill>
                <a:srgbClr val="F472B6"/>
              </a:solidFill>
              <a:latin typeface="Poppins"/>
            </a:endParaRPr>
          </a:p>
          <a:p>
            <a:pPr>
              <a:lnSpc>
                <a:spcPct val="100000"/>
              </a:lnSpc>
            </a:pPr>
            <a:r>
              <a:rPr lang="id-ID" sz="1400" dirty="0" err="1"/>
              <a:t>Every</a:t>
            </a:r>
            <a:r>
              <a:rPr lang="id-ID" sz="1400" dirty="0"/>
              <a:t> </a:t>
            </a:r>
            <a:r>
              <a:rPr lang="id-ID" sz="1400" dirty="0" err="1"/>
              <a:t>square</a:t>
            </a:r>
            <a:r>
              <a:rPr lang="id-ID" sz="1400" dirty="0"/>
              <a:t> </a:t>
            </a:r>
            <a:r>
              <a:rPr lang="id-ID" sz="1400" dirty="0" err="1"/>
              <a:t>must</a:t>
            </a:r>
            <a:r>
              <a:rPr lang="id-ID" sz="1400" dirty="0"/>
              <a:t> </a:t>
            </a:r>
            <a:r>
              <a:rPr lang="id-ID" sz="1400" dirty="0" err="1"/>
              <a:t>have</a:t>
            </a:r>
            <a:r>
              <a:rPr lang="id-ID" sz="1400" dirty="0"/>
              <a:t> a </a:t>
            </a:r>
            <a:r>
              <a:rPr lang="id-ID" sz="1400" b="1" dirty="0" err="1"/>
              <a:t>completely</a:t>
            </a:r>
            <a:r>
              <a:rPr lang="id-ID" sz="1400" b="1" dirty="0"/>
              <a:t> </a:t>
            </a:r>
            <a:r>
              <a:rPr lang="id-ID" sz="1400" b="1" dirty="0" err="1"/>
              <a:t>random</a:t>
            </a:r>
            <a:r>
              <a:rPr lang="id-ID" sz="1400" b="1" dirty="0"/>
              <a:t> </a:t>
            </a:r>
            <a:r>
              <a:rPr lang="id-ID" sz="1400" b="1" dirty="0" err="1"/>
              <a:t>position</a:t>
            </a:r>
            <a:r>
              <a:rPr lang="id-ID" sz="1400" b="1" dirty="0"/>
              <a:t> </a:t>
            </a:r>
            <a:r>
              <a:rPr lang="id-ID" sz="1400" dirty="0">
                <a:solidFill>
                  <a:srgbClr val="FFFF00"/>
                </a:solidFill>
                <a:latin typeface="Consolas" panose="020B0609020204030204" pitchFamily="49" charset="0"/>
              </a:rPr>
              <a:t>(</a:t>
            </a:r>
            <a:r>
              <a:rPr lang="id-ID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x,y</a:t>
            </a:r>
            <a:r>
              <a:rPr lang="id-ID" sz="1400" dirty="0">
                <a:solidFill>
                  <a:srgbClr val="FFFF00"/>
                </a:solidFill>
                <a:latin typeface="Consolas" panose="020B0609020204030204" pitchFamily="49" charset="0"/>
              </a:rPr>
              <a:t>) </a:t>
            </a:r>
            <a:r>
              <a:rPr lang="id-ID" sz="1400" dirty="0" err="1"/>
              <a:t>and</a:t>
            </a:r>
            <a:r>
              <a:rPr lang="id-ID" sz="1400" dirty="0"/>
              <a:t> a </a:t>
            </a:r>
            <a:r>
              <a:rPr lang="id-ID" sz="1400" b="1" dirty="0" err="1"/>
              <a:t>random</a:t>
            </a:r>
            <a:r>
              <a:rPr lang="id-ID" sz="1400" b="1" dirty="0"/>
              <a:t> RGB </a:t>
            </a:r>
            <a:r>
              <a:rPr lang="id-ID" sz="1400" b="1" dirty="0" err="1"/>
              <a:t>color</a:t>
            </a:r>
            <a:r>
              <a:rPr lang="id-ID" sz="1400" dirty="0"/>
              <a:t>.</a:t>
            </a:r>
            <a:endParaRPr lang="en-US" sz="1400" dirty="0">
              <a:solidFill>
                <a:srgbClr val="CBD5E1"/>
              </a:solidFill>
              <a:latin typeface="Inter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920F364-0E3F-65C0-1B98-05144C46157D}"/>
              </a:ext>
            </a:extLst>
          </p:cNvPr>
          <p:cNvSpPr/>
          <p:nvPr/>
        </p:nvSpPr>
        <p:spPr>
          <a:xfrm>
            <a:off x="6096001" y="2199372"/>
            <a:ext cx="5276998" cy="763984"/>
          </a:xfrm>
          <a:prstGeom prst="rect">
            <a:avLst/>
          </a:prstGeom>
          <a:solidFill>
            <a:srgbClr val="F472B6">
              <a:alpha val="10196"/>
            </a:srgbClr>
          </a:solidFill>
          <a:ln w="38100">
            <a:solidFill>
              <a:srgbClr val="F472B6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d-ID" b="1" dirty="0">
                <a:solidFill>
                  <a:srgbClr val="F472B6"/>
                </a:solidFill>
                <a:latin typeface="Poppins"/>
              </a:rPr>
              <a:t>The </a:t>
            </a:r>
            <a:r>
              <a:rPr lang="en-US" b="1" dirty="0">
                <a:solidFill>
                  <a:srgbClr val="F472B6"/>
                </a:solidFill>
                <a:latin typeface="Poppins"/>
              </a:rPr>
              <a:t>Mission</a:t>
            </a:r>
            <a:r>
              <a:rPr lang="id-ID" b="1" dirty="0">
                <a:solidFill>
                  <a:srgbClr val="F472B6"/>
                </a:solidFill>
                <a:latin typeface="Poppins"/>
              </a:rPr>
              <a:t>:</a:t>
            </a:r>
          </a:p>
          <a:p>
            <a:pPr>
              <a:lnSpc>
                <a:spcPct val="100000"/>
              </a:lnSpc>
            </a:pPr>
            <a:r>
              <a:rPr lang="id-ID" sz="1400" dirty="0" err="1"/>
              <a:t>Write</a:t>
            </a:r>
            <a:r>
              <a:rPr lang="id-ID" sz="1400" dirty="0"/>
              <a:t> a </a:t>
            </a:r>
            <a:r>
              <a:rPr lang="id-ID" sz="1400" dirty="0" err="1"/>
              <a:t>script</a:t>
            </a:r>
            <a:r>
              <a:rPr lang="id-ID" sz="1400" dirty="0"/>
              <a:t> </a:t>
            </a:r>
            <a:r>
              <a:rPr lang="id-ID" sz="1400" dirty="0" err="1"/>
              <a:t>using</a:t>
            </a:r>
            <a:r>
              <a:rPr lang="id-ID" sz="1400" dirty="0"/>
              <a:t> a </a:t>
            </a:r>
            <a:r>
              <a:rPr lang="id-ID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for</a:t>
            </a:r>
            <a:r>
              <a:rPr lang="id-ID" sz="1400" b="1" dirty="0"/>
              <a:t> </a:t>
            </a:r>
            <a:r>
              <a:rPr lang="id-ID" sz="1400" b="1" dirty="0" err="1"/>
              <a:t>loop</a:t>
            </a:r>
            <a:r>
              <a:rPr lang="id-ID" sz="1400" dirty="0"/>
              <a:t> </a:t>
            </a:r>
            <a:r>
              <a:rPr lang="id-ID" sz="1400" dirty="0" err="1"/>
              <a:t>to</a:t>
            </a:r>
            <a:r>
              <a:rPr lang="id-ID" sz="1400" dirty="0"/>
              <a:t> </a:t>
            </a:r>
            <a:r>
              <a:rPr lang="id-ID" sz="1400" dirty="0" err="1"/>
              <a:t>draw</a:t>
            </a:r>
            <a:r>
              <a:rPr lang="id-ID" sz="1400" dirty="0"/>
              <a:t> </a:t>
            </a:r>
            <a:r>
              <a:rPr lang="id-ID" sz="1400" b="1" dirty="0"/>
              <a:t>50 </a:t>
            </a:r>
            <a:r>
              <a:rPr lang="id-ID" sz="1400" b="1" dirty="0" err="1"/>
              <a:t>squares</a:t>
            </a:r>
            <a:r>
              <a:rPr lang="id-ID" sz="1400" dirty="0"/>
              <a:t> </a:t>
            </a:r>
            <a:r>
              <a:rPr lang="id-ID" sz="1400" dirty="0" err="1"/>
              <a:t>on</a:t>
            </a:r>
            <a:r>
              <a:rPr lang="id-ID" sz="1400" dirty="0"/>
              <a:t> </a:t>
            </a:r>
            <a:r>
              <a:rPr lang="id-ID" sz="1400" dirty="0" err="1"/>
              <a:t>your</a:t>
            </a:r>
            <a:r>
              <a:rPr lang="id-ID" sz="1400" dirty="0"/>
              <a:t> </a:t>
            </a:r>
            <a:r>
              <a:rPr lang="id-ID" sz="1400" dirty="0" err="1"/>
              <a:t>Py</a:t>
            </a:r>
            <a:r>
              <a:rPr lang="en-US" sz="1400" dirty="0"/>
              <a:t>g</a:t>
            </a:r>
            <a:r>
              <a:rPr lang="id-ID" sz="1400" dirty="0" err="1"/>
              <a:t>ame</a:t>
            </a:r>
            <a:r>
              <a:rPr lang="id-ID" sz="1400" dirty="0"/>
              <a:t> </a:t>
            </a:r>
            <a:r>
              <a:rPr lang="id-ID" sz="1400" dirty="0" err="1"/>
              <a:t>window</a:t>
            </a:r>
            <a:r>
              <a:rPr lang="id-ID" sz="1400" dirty="0"/>
              <a:t>.</a:t>
            </a:r>
            <a:endParaRPr lang="en-US" sz="1400" dirty="0">
              <a:solidFill>
                <a:srgbClr val="CBD5E1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50693" cy="1162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4ADE80"/>
                </a:solidFill>
                <a:latin typeface="Poppins"/>
              </a:rPr>
              <a:t>Mini Project 1:</a:t>
            </a:r>
            <a:r>
              <a:t>
</a:t>
            </a:r>
            <a:r>
              <a:rPr sz="3000" b="1" i="0" u="none">
                <a:solidFill>
                  <a:srgbClr val="4ADE80"/>
                </a:solidFill>
                <a:latin typeface="Poppins"/>
              </a:rPr>
              <a:t> Modern Art Canvas 🖼️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809750"/>
            <a:ext cx="5286375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440781"/>
            <a:ext cx="5550693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4ADE80"/>
                </a:solidFill>
                <a:latin typeface="Poppins"/>
              </a:rPr>
              <a:t>The Requirements: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907506"/>
            <a:ext cx="5286375" cy="5557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>
                <a:solidFill>
                  <a:srgbClr val="CBD5E1"/>
                </a:solidFill>
                <a:latin typeface="Inter"/>
              </a:rPr>
              <a:t>1. Keep your </a:t>
            </a:r>
            <a:r>
              <a:rPr sz="1500" b="0" i="0" u="none" dirty="0" err="1">
                <a:solidFill>
                  <a:srgbClr val="CBD5E1"/>
                </a:solidFill>
                <a:latin typeface="Inter"/>
              </a:rPr>
              <a:t>Py</a:t>
            </a:r>
            <a:r>
              <a:rPr lang="en-US" sz="1500" b="0" i="0" u="none" dirty="0" err="1">
                <a:solidFill>
                  <a:srgbClr val="CBD5E1"/>
                </a:solidFill>
                <a:latin typeface="Inter"/>
              </a:rPr>
              <a:t>g</a:t>
            </a:r>
            <a:r>
              <a:rPr sz="1500" b="0" i="0" u="none" dirty="0" err="1">
                <a:solidFill>
                  <a:srgbClr val="CBD5E1"/>
                </a:solidFill>
                <a:latin typeface="Inter"/>
              </a:rPr>
              <a:t>ame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 window open using the standard game loop </a:t>
            </a:r>
            <a:r>
              <a:rPr sz="1200" dirty="0">
                <a:solidFill>
                  <a:srgbClr val="FFFF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FFFF00"/>
                </a:solidFill>
                <a:latin typeface="Consolas" panose="020B0609020204030204" pitchFamily="49" charset="0"/>
              </a:rPr>
              <a:t>running = True</a:t>
            </a:r>
            <a:r>
              <a:rPr sz="1200" dirty="0">
                <a:solidFill>
                  <a:srgbClr val="FFFF00"/>
                </a:solidFill>
                <a:latin typeface="Consolas" panose="020B0609020204030204" pitchFamily="49" charset="0"/>
              </a:rPr>
              <a:t>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674268"/>
            <a:ext cx="52863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2. Use a loop to generate at least </a:t>
            </a:r>
            <a:r>
              <a:rPr sz="1500" b="1" i="0" u="none">
                <a:solidFill>
                  <a:srgbClr val="CBD5E1"/>
                </a:solidFill>
                <a:latin typeface="Inter"/>
              </a:rPr>
              <a:t>150+ random geometric shapes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(mix rects and circles!).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436268"/>
            <a:ext cx="52863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3. </a:t>
            </a:r>
            <a:r>
              <a:rPr sz="1500" b="1" i="0" u="none">
                <a:solidFill>
                  <a:srgbClr val="CBD5E1"/>
                </a:solidFill>
                <a:latin typeface="Inter"/>
              </a:rPr>
              <a:t>Creative Touch: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Add a solid background color first before drawing your abstract art.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5198268"/>
            <a:ext cx="52863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22D3EE"/>
                </a:solidFill>
                <a:latin typeface="Inter SemiBold"/>
              </a:rPr>
              <a:t>Run it in VS Code and watch your computer create unique art!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33500" y="1357758"/>
            <a:ext cx="9525000" cy="1025276"/>
          </a:xfrm>
          <a:prstGeom prst="roundRect">
            <a:avLst>
              <a:gd name="adj" fmla="val 11148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00250" y="1548258"/>
            <a:ext cx="8667750" cy="494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i="0" u="none" dirty="0">
                <a:solidFill>
                  <a:srgbClr val="F8FAFC"/>
                </a:solidFill>
                <a:latin typeface="Inter SemiBold"/>
              </a:rPr>
              <a:t>Coordinates System</a:t>
            </a:r>
            <a:endParaRPr lang="en-US" b="1" dirty="0">
              <a:solidFill>
                <a:srgbClr val="CBD5E1"/>
              </a:solidFill>
              <a:latin typeface="Inter"/>
            </a:endParaRPr>
          </a:p>
          <a:p>
            <a:pPr algn="l">
              <a:lnSpc>
                <a:spcPts val="2025"/>
              </a:lnSpc>
            </a:pPr>
            <a:r>
              <a:rPr sz="1400" b="0" i="0" u="none" dirty="0" err="1">
                <a:solidFill>
                  <a:srgbClr val="CBD5E1"/>
                </a:solidFill>
                <a:latin typeface="Inter"/>
              </a:rPr>
              <a:t>Py</a:t>
            </a:r>
            <a:r>
              <a:rPr lang="en-US" sz="1400" dirty="0" err="1">
                <a:solidFill>
                  <a:srgbClr val="CBD5E1"/>
                </a:solidFill>
                <a:latin typeface="Inter"/>
              </a:rPr>
              <a:t>g</a:t>
            </a:r>
            <a:r>
              <a:rPr sz="1400" b="0" i="0" u="none" dirty="0" err="1">
                <a:solidFill>
                  <a:srgbClr val="CBD5E1"/>
                </a:solidFill>
                <a:latin typeface="Inter"/>
              </a:rPr>
              <a:t>ame</a:t>
            </a:r>
            <a:r>
              <a:rPr sz="1400" b="0" i="0" u="none" dirty="0">
                <a:solidFill>
                  <a:srgbClr val="CBD5E1"/>
                </a:solidFill>
                <a:latin typeface="Inter"/>
              </a:rPr>
              <a:t> uses 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(0,0) </a:t>
            </a:r>
            <a:r>
              <a:rPr sz="1400" b="0" i="0" u="none" dirty="0">
                <a:solidFill>
                  <a:srgbClr val="CBD5E1"/>
                </a:solidFill>
                <a:latin typeface="Inter"/>
              </a:rPr>
              <a:t>at the top-left corner. Y goes DOWN, X goes RIGHT.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2573535"/>
            <a:ext cx="9525000" cy="1025276"/>
          </a:xfrm>
          <a:prstGeom prst="roundRect">
            <a:avLst>
              <a:gd name="adj" fmla="val 11148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00250" y="2764035"/>
            <a:ext cx="8667750" cy="494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025"/>
              </a:lnSpc>
            </a:pPr>
            <a:r>
              <a:rPr b="1" dirty="0">
                <a:solidFill>
                  <a:srgbClr val="F8FAFC"/>
                </a:solidFill>
                <a:latin typeface="Inter SemiBold"/>
              </a:rPr>
              <a:t>Randomness</a:t>
            </a:r>
            <a:endParaRPr lang="en-US" b="1" dirty="0">
              <a:solidFill>
                <a:srgbClr val="F8FAFC"/>
              </a:solidFill>
              <a:latin typeface="Inter SemiBold"/>
            </a:endParaRPr>
          </a:p>
          <a:p>
            <a:pPr algn="l">
              <a:lnSpc>
                <a:spcPts val="2025"/>
              </a:lnSpc>
            </a:pPr>
            <a:r>
              <a:rPr sz="1400" b="0" i="0" u="none" dirty="0">
                <a:solidFill>
                  <a:srgbClr val="CBD5E1"/>
                </a:solidFill>
                <a:latin typeface="Inter"/>
              </a:rPr>
              <a:t>Using </a:t>
            </a:r>
            <a:r>
              <a:rPr lang="en-US" sz="1400" b="0" i="0" u="none" dirty="0" err="1">
                <a:solidFill>
                  <a:srgbClr val="FFFF00"/>
                </a:solidFill>
                <a:latin typeface="Consolas" panose="020B0609020204030204" pitchFamily="49" charset="0"/>
              </a:rPr>
              <a:t>random.radint</a:t>
            </a:r>
            <a:r>
              <a:rPr lang="en-US" sz="1400" b="0" i="0" u="none" dirty="0">
                <a:solidFill>
                  <a:srgbClr val="FFFF00"/>
                </a:solidFill>
                <a:latin typeface="Consolas" panose="020B0609020204030204" pitchFamily="49" charset="0"/>
              </a:rPr>
              <a:t>() </a:t>
            </a:r>
            <a:r>
              <a:rPr sz="1400" b="0" i="0" u="none" dirty="0">
                <a:solidFill>
                  <a:srgbClr val="CBD5E1"/>
                </a:solidFill>
                <a:latin typeface="Inter"/>
              </a:rPr>
              <a:t>brings surprise, variety, and unpredictability to our logic.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33500" y="3789312"/>
            <a:ext cx="9525000" cy="1282451"/>
          </a:xfrm>
          <a:prstGeom prst="roundRect">
            <a:avLst>
              <a:gd name="adj" fmla="val 8912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00250" y="3979812"/>
            <a:ext cx="8667750" cy="494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025"/>
              </a:lnSpc>
            </a:pPr>
            <a:r>
              <a:rPr b="1" dirty="0">
                <a:solidFill>
                  <a:srgbClr val="F8FAFC"/>
                </a:solidFill>
                <a:latin typeface="Inter SemiBold"/>
              </a:rPr>
              <a:t>For Loops</a:t>
            </a:r>
            <a:endParaRPr lang="en-US" b="1" dirty="0">
              <a:solidFill>
                <a:srgbClr val="F8FAFC"/>
              </a:solidFill>
              <a:latin typeface="Inter SemiBold"/>
            </a:endParaRPr>
          </a:p>
          <a:p>
            <a:pPr algn="l">
              <a:lnSpc>
                <a:spcPts val="2025"/>
              </a:lnSpc>
            </a:pP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for </a:t>
            </a:r>
            <a:r>
              <a:rPr lang="en-US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 in range()</a:t>
            </a:r>
            <a:r>
              <a:rPr sz="1400" b="0" i="0" u="none" dirty="0">
                <a:solidFill>
                  <a:srgbClr val="CBD5E1"/>
                </a:solidFill>
                <a:latin typeface="Inter"/>
              </a:rPr>
              <a:t>automates repetitive tasks instantly, saving us from writing hundreds of lines of code.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33500" y="5262264"/>
            <a:ext cx="9525000" cy="1019175"/>
          </a:xfrm>
          <a:prstGeom prst="roundRect">
            <a:avLst>
              <a:gd name="adj" fmla="val 1121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00250" y="5452764"/>
            <a:ext cx="8667750" cy="494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025"/>
              </a:lnSpc>
            </a:pPr>
            <a:r>
              <a:rPr b="1" dirty="0">
                <a:solidFill>
                  <a:srgbClr val="F472B6"/>
                </a:solidFill>
                <a:latin typeface="Inter SemiBold"/>
              </a:rPr>
              <a:t>Next Session Preview... </a:t>
            </a:r>
            <a:endParaRPr lang="en-US" b="1" dirty="0">
              <a:solidFill>
                <a:srgbClr val="F472B6"/>
              </a:solidFill>
              <a:latin typeface="Inter SemiBold"/>
            </a:endParaRPr>
          </a:p>
          <a:p>
            <a:pPr algn="l">
              <a:lnSpc>
                <a:spcPts val="2025"/>
              </a:lnSpc>
            </a:pPr>
            <a:r>
              <a:rPr sz="1400" b="0" i="0" u="none" dirty="0">
                <a:solidFill>
                  <a:srgbClr val="CBD5E1"/>
                </a:solidFill>
                <a:latin typeface="Inter"/>
              </a:rPr>
              <a:t>Next week, we are going to learn how to make our shapes move across the screen!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33500" y="2373510"/>
            <a:ext cx="9525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333500" y="3589287"/>
            <a:ext cx="9525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333500" y="5062239"/>
            <a:ext cx="9525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333500" y="6271914"/>
            <a:ext cx="9525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525" y="1553021"/>
            <a:ext cx="266700" cy="2762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525" y="2768798"/>
            <a:ext cx="266700" cy="2762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525" y="3984575"/>
            <a:ext cx="266700" cy="2762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3525" y="5457527"/>
            <a:ext cx="266700" cy="27622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71500" y="386208"/>
            <a:ext cx="11601450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Poppins"/>
              </a:rPr>
              <a:t>What Did We Master Today? 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1500" y="1052958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967</Words>
  <Application>Microsoft Office PowerPoint</Application>
  <PresentationFormat>Widescreen</PresentationFormat>
  <Paragraphs>112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Consolas</vt:lpstr>
      <vt:lpstr>Inter</vt:lpstr>
      <vt:lpstr>Inter SemiBold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Annisa Hendrawan</dc:creator>
  <cp:keywords/>
  <dc:description>generated using python-pptx</dc:description>
  <cp:lastModifiedBy>annisafzhn.ms</cp:lastModifiedBy>
  <cp:revision>4</cp:revision>
  <dcterms:created xsi:type="dcterms:W3CDTF">2013-01-27T09:14:16Z</dcterms:created>
  <dcterms:modified xsi:type="dcterms:W3CDTF">2026-09-16T06:30:05Z</dcterms:modified>
  <cp:category/>
</cp:coreProperties>
</file>