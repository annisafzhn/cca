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FF73"/>
    <a:srgbClr val="4C6F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601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2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43238" y="3203972"/>
            <a:ext cx="3057525" cy="7643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3043238" y="3203972"/>
            <a:ext cx="305752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3530048" y="1175147"/>
            <a:ext cx="2083904" cy="243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>
                <a:solidFill>
                  <a:srgbClr val="06B6D4"/>
                </a:solidFill>
                <a:latin typeface="Fira Code"/>
              </a:rPr>
              <a:t>CCA GAME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1121" y="1603772"/>
            <a:ext cx="6881757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4500" b="1" dirty="0">
                <a:solidFill>
                  <a:srgbClr val="F8FAFC"/>
                </a:solidFill>
                <a:latin typeface="Space Grotesk"/>
              </a:rPr>
              <a:t>MAKING THINGS MOVE </a:t>
            </a:r>
            <a:r>
              <a:rPr sz="4500" b="1" dirty="0">
                <a:solidFill>
                  <a:srgbClr val="FFFF00"/>
                </a:solidFill>
                <a:latin typeface="Space Grotesk"/>
              </a:rPr>
              <a:t>(X,Y)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93417" y="2403871"/>
            <a:ext cx="2757166" cy="3276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>
                <a:solidFill>
                  <a:srgbClr val="06B6D4"/>
                </a:solidFill>
                <a:latin typeface="Fira Code"/>
              </a:rPr>
              <a:t>Module 2 —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5477" y="3439716"/>
            <a:ext cx="1993046" cy="238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>
                <a:solidFill>
                  <a:srgbClr val="F8FAFC"/>
                </a:solidFill>
                <a:latin typeface="Inter"/>
              </a:rPr>
              <a:t>Teacher: Annisa Hendrawan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5207" y="3754040"/>
            <a:ext cx="2553584" cy="2015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88"/>
              </a:lnSpc>
            </a:pPr>
            <a:r>
              <a:rPr sz="1125">
                <a:solidFill>
                  <a:srgbClr val="64748B"/>
                </a:solidFill>
                <a:latin typeface="Inter"/>
              </a:rPr>
              <a:t>Junior High School — Global Prestasi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 can: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685800" cy="6858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9169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X and Y coordinates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754880" y="164592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9"/>
          <p:cNvSpPr/>
          <p:nvPr/>
        </p:nvSpPr>
        <p:spPr>
          <a:xfrm>
            <a:off x="4983480" y="1920240"/>
            <a:ext cx="685800" cy="6858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930" y="209169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97880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 object's position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57200" y="310896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Shape 12"/>
          <p:cNvSpPr/>
          <p:nvPr/>
        </p:nvSpPr>
        <p:spPr>
          <a:xfrm>
            <a:off x="685800" y="3383280"/>
            <a:ext cx="685800" cy="685800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55473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32918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object move with code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4754880" y="310896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5"/>
          <p:cNvSpPr/>
          <p:nvPr/>
        </p:nvSpPr>
        <p:spPr>
          <a:xfrm>
            <a:off x="4983480" y="338328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4930" y="355473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97880" y="32918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movement speed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an Object Move?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game object has a position.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822960" y="16916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685800" cy="6858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730" y="1954530"/>
            <a:ext cx="342900" cy="3429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2860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754880" y="155448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Text 11"/>
          <p:cNvSpPr txBox="1"/>
          <p:nvPr/>
        </p:nvSpPr>
        <p:spPr>
          <a:xfrm>
            <a:off x="5120640" y="16916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8000" dirty="0"/>
          </a:p>
        </p:txBody>
      </p:sp>
      <p:sp>
        <p:nvSpPr>
          <p:cNvPr id="15" name="Shape 12"/>
          <p:cNvSpPr/>
          <p:nvPr/>
        </p:nvSpPr>
        <p:spPr>
          <a:xfrm>
            <a:off x="7680960" y="1783080"/>
            <a:ext cx="685800" cy="6858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2410" y="1954530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5836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Down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6"/>
          <p:cNvSpPr txBox="1"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change the position, the object moves.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&amp; Y Coordinates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Pygame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Shape 6"/>
          <p:cNvSpPr/>
          <p:nvPr/>
        </p:nvSpPr>
        <p:spPr>
          <a:xfrm>
            <a:off x="914400" y="1554480"/>
            <a:ext cx="0" cy="292608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Shape 7"/>
          <p:cNvSpPr/>
          <p:nvPr/>
        </p:nvSpPr>
        <p:spPr>
          <a:xfrm>
            <a:off x="1371600" y="1554480"/>
            <a:ext cx="0" cy="292608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Shape 8"/>
          <p:cNvSpPr/>
          <p:nvPr/>
        </p:nvSpPr>
        <p:spPr>
          <a:xfrm>
            <a:off x="1828800" y="1554480"/>
            <a:ext cx="0" cy="292608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Shape 9"/>
          <p:cNvSpPr/>
          <p:nvPr/>
        </p:nvSpPr>
        <p:spPr>
          <a:xfrm>
            <a:off x="2286000" y="1554480"/>
            <a:ext cx="0" cy="292608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10"/>
          <p:cNvSpPr/>
          <p:nvPr/>
        </p:nvSpPr>
        <p:spPr>
          <a:xfrm>
            <a:off x="2743200" y="1554480"/>
            <a:ext cx="0" cy="292608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Shape 11"/>
          <p:cNvSpPr/>
          <p:nvPr/>
        </p:nvSpPr>
        <p:spPr>
          <a:xfrm>
            <a:off x="3200400" y="1554480"/>
            <a:ext cx="0" cy="292608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2"/>
          <p:cNvSpPr/>
          <p:nvPr/>
        </p:nvSpPr>
        <p:spPr>
          <a:xfrm>
            <a:off x="3657600" y="1554480"/>
            <a:ext cx="0" cy="292608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Shape 13"/>
          <p:cNvSpPr/>
          <p:nvPr/>
        </p:nvSpPr>
        <p:spPr>
          <a:xfrm>
            <a:off x="4114800" y="1554480"/>
            <a:ext cx="0" cy="292608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3657600" cy="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Shape 15"/>
          <p:cNvSpPr/>
          <p:nvPr/>
        </p:nvSpPr>
        <p:spPr>
          <a:xfrm>
            <a:off x="548640" y="2377440"/>
            <a:ext cx="3657600" cy="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3657600" cy="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657600" cy="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657600" cy="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3657600" cy="0"/>
          </a:xfrm>
          <a:prstGeom prst="line">
            <a:avLst/>
          </a:prstGeom>
          <a:noFill/>
          <a:ln w="9525">
            <a:solidFill>
              <a:srgbClr val="2A3558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Shape 20"/>
          <p:cNvSpPr/>
          <p:nvPr/>
        </p:nvSpPr>
        <p:spPr>
          <a:xfrm>
            <a:off x="868680" y="1874520"/>
            <a:ext cx="310896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23" name="Shape 21"/>
          <p:cNvSpPr/>
          <p:nvPr/>
        </p:nvSpPr>
        <p:spPr>
          <a:xfrm>
            <a:off x="868680" y="1874520"/>
            <a:ext cx="0" cy="228600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 txBox="1"/>
          <p:nvPr/>
        </p:nvSpPr>
        <p:spPr>
          <a:xfrm>
            <a:off x="3794760" y="1508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069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78408" y="1947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2834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Text 26"/>
          <p:cNvSpPr txBox="1"/>
          <p:nvPr/>
        </p:nvSpPr>
        <p:spPr>
          <a:xfrm>
            <a:off x="288036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463040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Shape 28"/>
          <p:cNvSpPr/>
          <p:nvPr/>
        </p:nvSpPr>
        <p:spPr>
          <a:xfrm>
            <a:off x="4773168" y="1545336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636776"/>
            <a:ext cx="182880" cy="18288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303520" y="146304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increases  →  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663440" y="2084832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4" name="Shape 31"/>
          <p:cNvSpPr/>
          <p:nvPr/>
        </p:nvSpPr>
        <p:spPr>
          <a:xfrm>
            <a:off x="4773168" y="2167128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258568"/>
            <a:ext cx="182880" cy="18288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5303520" y="20848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decreases  →  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4663440" y="2706624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8" name="Shape 34"/>
          <p:cNvSpPr/>
          <p:nvPr/>
        </p:nvSpPr>
        <p:spPr>
          <a:xfrm>
            <a:off x="4773168" y="2788920"/>
            <a:ext cx="365760" cy="3657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880360"/>
            <a:ext cx="182880" cy="18288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5303520" y="270662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increases  →  </a:t>
            </a: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4663440" y="3328416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2" name="Shape 37"/>
          <p:cNvSpPr/>
          <p:nvPr/>
        </p:nvSpPr>
        <p:spPr>
          <a:xfrm>
            <a:off x="4773168" y="3410712"/>
            <a:ext cx="365760" cy="3657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502152"/>
            <a:ext cx="182880" cy="182880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5303520" y="332841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decreases  →  </a:t>
            </a: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600" dirty="0"/>
          </a:p>
        </p:txBody>
      </p:sp>
      <p:sp>
        <p:nvSpPr>
          <p:cNvPr id="45" name="Shape 39"/>
          <p:cNvSpPr/>
          <p:nvPr/>
        </p:nvSpPr>
        <p:spPr>
          <a:xfrm>
            <a:off x="4663440" y="4023360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6" name="Text 40"/>
          <p:cNvSpPr txBox="1"/>
          <p:nvPr/>
        </p:nvSpPr>
        <p:spPr>
          <a:xfrm>
            <a:off x="4846320" y="4023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Horizontal   Y = Vertical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 Python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store an object's position in variables.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Shape 6"/>
          <p:cNvSpPr/>
          <p:nvPr/>
        </p:nvSpPr>
        <p:spPr>
          <a:xfrm>
            <a:off x="621792" y="169164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Shape 7"/>
          <p:cNvSpPr/>
          <p:nvPr/>
        </p:nvSpPr>
        <p:spPr>
          <a:xfrm>
            <a:off x="804672" y="169164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Shape 8"/>
          <p:cNvSpPr/>
          <p:nvPr/>
        </p:nvSpPr>
        <p:spPr>
          <a:xfrm>
            <a:off x="987552" y="1691640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 txBox="1"/>
          <p:nvPr/>
        </p:nvSpPr>
        <p:spPr>
          <a:xfrm>
            <a:off x="685800" y="19385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 = 100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player_y = 200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 txBox="1"/>
          <p:nvPr/>
        </p:nvSpPr>
        <p:spPr>
          <a:xfrm>
            <a:off x="457200" y="32918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= </a:t>
            </a:r>
            <a:r>
              <a:rPr lang="en-US" sz="2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(100, 200)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155448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Shape 13"/>
          <p:cNvSpPr/>
          <p:nvPr/>
        </p:nvSpPr>
        <p:spPr>
          <a:xfrm>
            <a:off x="5257800" y="1874520"/>
            <a:ext cx="731520" cy="7315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05740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1722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horizontal position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029200" y="30175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7"/>
          <p:cNvSpPr/>
          <p:nvPr/>
        </p:nvSpPr>
        <p:spPr>
          <a:xfrm>
            <a:off x="5257800" y="3337560"/>
            <a:ext cx="731520" cy="7315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52044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17220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player_y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61722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vertical position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Movement Formula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make the object move?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731520" y="1554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POSITION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Text 8"/>
          <p:cNvSpPr txBox="1"/>
          <p:nvPr/>
        </p:nvSpPr>
        <p:spPr>
          <a:xfrm>
            <a:off x="3474720" y="1554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POSITION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 txBox="1"/>
          <p:nvPr/>
        </p:nvSpPr>
        <p:spPr>
          <a:xfrm>
            <a:off x="6217920" y="1554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5544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5544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Shape 15"/>
          <p:cNvSpPr/>
          <p:nvPr/>
        </p:nvSpPr>
        <p:spPr>
          <a:xfrm>
            <a:off x="896112" y="33375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Shape 16"/>
          <p:cNvSpPr/>
          <p:nvPr/>
        </p:nvSpPr>
        <p:spPr>
          <a:xfrm>
            <a:off x="1078992" y="33375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Shape 17"/>
          <p:cNvSpPr/>
          <p:nvPr/>
        </p:nvSpPr>
        <p:spPr>
          <a:xfrm>
            <a:off x="1261872" y="3337560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 txBox="1"/>
          <p:nvPr/>
        </p:nvSpPr>
        <p:spPr>
          <a:xfrm>
            <a:off x="960120" y="35844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 += speed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player_y += speed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3200400"/>
            <a:ext cx="3474720" cy="594360"/>
          </a:xfrm>
          <a:prstGeom prst="roundRect">
            <a:avLst>
              <a:gd name="adj" fmla="val 18462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 txBox="1"/>
          <p:nvPr/>
        </p:nvSpPr>
        <p:spPr>
          <a:xfrm>
            <a:off x="5120640" y="3200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changes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Horizontal movement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3886200"/>
            <a:ext cx="3474720" cy="594360"/>
          </a:xfrm>
          <a:prstGeom prst="roundRect">
            <a:avLst>
              <a:gd name="adj" fmla="val 18462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 txBox="1"/>
          <p:nvPr/>
        </p:nvSpPr>
        <p:spPr>
          <a:xfrm>
            <a:off x="5120640" y="3886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changes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Vertical movement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+= Mean?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means "add to the current value"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Shape 6"/>
          <p:cNvSpPr/>
          <p:nvPr/>
        </p:nvSpPr>
        <p:spPr>
          <a:xfrm>
            <a:off x="621792" y="16459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Shape 7"/>
          <p:cNvSpPr/>
          <p:nvPr/>
        </p:nvSpPr>
        <p:spPr>
          <a:xfrm>
            <a:off x="804672" y="164592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Shape 8"/>
          <p:cNvSpPr/>
          <p:nvPr/>
        </p:nvSpPr>
        <p:spPr>
          <a:xfrm>
            <a:off x="987552" y="1645920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 txBox="1"/>
          <p:nvPr/>
        </p:nvSpPr>
        <p:spPr>
          <a:xfrm>
            <a:off x="685800" y="1892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 += 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150876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Shape 11"/>
          <p:cNvSpPr/>
          <p:nvPr/>
        </p:nvSpPr>
        <p:spPr>
          <a:xfrm>
            <a:off x="5102352" y="16459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2"/>
          <p:cNvSpPr/>
          <p:nvPr/>
        </p:nvSpPr>
        <p:spPr>
          <a:xfrm>
            <a:off x="5285232" y="164592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Shape 13"/>
          <p:cNvSpPr/>
          <p:nvPr/>
        </p:nvSpPr>
        <p:spPr>
          <a:xfrm>
            <a:off x="5468112" y="1645920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4"/>
          <p:cNvSpPr txBox="1"/>
          <p:nvPr/>
        </p:nvSpPr>
        <p:spPr>
          <a:xfrm>
            <a:off x="5166360" y="1892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 = player_x + 5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1554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same as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858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3200400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 txBox="1"/>
          <p:nvPr/>
        </p:nvSpPr>
        <p:spPr>
          <a:xfrm>
            <a:off x="685800" y="32004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248" y="3419856"/>
            <a:ext cx="237744" cy="23774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331720" y="3200400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1"/>
          <p:cNvSpPr txBox="1"/>
          <p:nvPr/>
        </p:nvSpPr>
        <p:spPr>
          <a:xfrm>
            <a:off x="2331720" y="32004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22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3419856"/>
            <a:ext cx="237744" cy="237744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977640" y="3200400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23"/>
          <p:cNvSpPr txBox="1"/>
          <p:nvPr/>
        </p:nvSpPr>
        <p:spPr>
          <a:xfrm>
            <a:off x="3977640" y="32004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endParaRPr lang="en-US" sz="22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3419856"/>
            <a:ext cx="237744" cy="237744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5623560" y="3200400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25"/>
          <p:cNvSpPr txBox="1"/>
          <p:nvPr/>
        </p:nvSpPr>
        <p:spPr>
          <a:xfrm>
            <a:off x="5623560" y="32004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</a:t>
            </a:r>
            <a:endParaRPr lang="en-US" sz="22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3419856"/>
            <a:ext cx="237744" cy="237744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7269480" y="3200400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3" name="Text 27"/>
          <p:cNvSpPr txBox="1"/>
          <p:nvPr/>
        </p:nvSpPr>
        <p:spPr>
          <a:xfrm>
            <a:off x="7269480" y="32004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2200" dirty="0"/>
          </a:p>
        </p:txBody>
      </p:sp>
      <p:sp>
        <p:nvSpPr>
          <p:cNvPr id="34" name="Text 28"/>
          <p:cNvSpPr txBox="1"/>
          <p:nvPr/>
        </p:nvSpPr>
        <p:spPr>
          <a:xfrm>
            <a:off x="68580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keeps increasing.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 Different Directions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2788920"/>
          </a:xfrm>
          <a:prstGeom prst="roundRect">
            <a:avLst>
              <a:gd name="adj" fmla="val 5714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1965960"/>
            <a:ext cx="822960" cy="8229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21717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94360" y="3474720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9"/>
          <p:cNvSpPr txBox="1"/>
          <p:nvPr/>
        </p:nvSpPr>
        <p:spPr>
          <a:xfrm>
            <a:off x="59436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 += 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560320" y="1371600"/>
            <a:ext cx="1920240" cy="2788920"/>
          </a:xfrm>
          <a:prstGeom prst="roundRect">
            <a:avLst>
              <a:gd name="adj" fmla="val 5714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Text 11"/>
          <p:cNvSpPr txBox="1"/>
          <p:nvPr/>
        </p:nvSpPr>
        <p:spPr>
          <a:xfrm>
            <a:off x="256032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X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08960" y="1965960"/>
            <a:ext cx="822960" cy="8229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21717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56032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2697480" y="3474720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5"/>
          <p:cNvSpPr txBox="1"/>
          <p:nvPr/>
        </p:nvSpPr>
        <p:spPr>
          <a:xfrm>
            <a:off x="269748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 -= 5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663440" y="1371600"/>
            <a:ext cx="1920240" cy="2788920"/>
          </a:xfrm>
          <a:prstGeom prst="roundRect">
            <a:avLst>
              <a:gd name="adj" fmla="val 5714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Text 17"/>
          <p:cNvSpPr txBox="1"/>
          <p:nvPr/>
        </p:nvSpPr>
        <p:spPr>
          <a:xfrm>
            <a:off x="466344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212080" y="1965960"/>
            <a:ext cx="822960" cy="8229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820" y="217170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66344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4800600" y="3474720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6" name="Text 21"/>
          <p:cNvSpPr txBox="1"/>
          <p:nvPr/>
        </p:nvSpPr>
        <p:spPr>
          <a:xfrm>
            <a:off x="480060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player_y += 5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766560" y="1371600"/>
            <a:ext cx="1920240" cy="2788920"/>
          </a:xfrm>
          <a:prstGeom prst="roundRect">
            <a:avLst>
              <a:gd name="adj" fmla="val 5714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Text 23"/>
          <p:cNvSpPr txBox="1"/>
          <p:nvPr/>
        </p:nvSpPr>
        <p:spPr>
          <a:xfrm>
            <a:off x="676656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Y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315200" y="1965960"/>
            <a:ext cx="822960" cy="8229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0940" y="217170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76656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6903720" y="3474720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3" name="Text 27"/>
          <p:cNvSpPr txBox="1"/>
          <p:nvPr/>
        </p:nvSpPr>
        <p:spPr>
          <a:xfrm>
            <a:off x="690372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player_y -= 5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Horizontal   ·   Y = Vertical</a:t>
            </a:r>
            <a:endParaRPr lang="en-US" sz="2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Loop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object keep moving?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Text 8"/>
          <p:cNvSpPr txBox="1"/>
          <p:nvPr/>
        </p:nvSpPr>
        <p:spPr>
          <a:xfrm>
            <a:off x="347472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377440" y="2377440"/>
            <a:ext cx="1097280" cy="0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10"/>
          <p:cNvSpPr/>
          <p:nvPr/>
        </p:nvSpPr>
        <p:spPr>
          <a:xfrm>
            <a:off x="4389120" y="2926080"/>
            <a:ext cx="0" cy="822960"/>
          </a:xfrm>
          <a:prstGeom prst="line">
            <a:avLst/>
          </a:prstGeom>
          <a:noFill/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Shape 11"/>
          <p:cNvSpPr/>
          <p:nvPr/>
        </p:nvSpPr>
        <p:spPr>
          <a:xfrm>
            <a:off x="1463040" y="3749040"/>
            <a:ext cx="2926080" cy="0"/>
          </a:xfrm>
          <a:prstGeom prst="line">
            <a:avLst/>
          </a:prstGeom>
          <a:noFill/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2"/>
          <p:cNvSpPr/>
          <p:nvPr/>
        </p:nvSpPr>
        <p:spPr>
          <a:xfrm flipV="1">
            <a:off x="1463040" y="2926080"/>
            <a:ext cx="0" cy="822960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5" name="Shape 13"/>
          <p:cNvSpPr/>
          <p:nvPr/>
        </p:nvSpPr>
        <p:spPr>
          <a:xfrm>
            <a:off x="2377440" y="3566160"/>
            <a:ext cx="1097280" cy="365760"/>
          </a:xfrm>
          <a:prstGeom prst="roundRect">
            <a:avLst>
              <a:gd name="adj" fmla="val 30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4"/>
          <p:cNvSpPr txBox="1"/>
          <p:nvPr/>
        </p:nvSpPr>
        <p:spPr>
          <a:xfrm>
            <a:off x="237744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16459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Text 16"/>
          <p:cNvSpPr txBox="1"/>
          <p:nvPr/>
        </p:nvSpPr>
        <p:spPr>
          <a:xfrm>
            <a:off x="6035040" y="16459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keeps updating the object's position.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52160" y="320040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 txBox="1"/>
          <p:nvPr/>
        </p:nvSpPr>
        <p:spPr>
          <a:xfrm>
            <a:off x="6035040" y="32004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position changes make the object look like it is moving.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Code!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5 starter code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86309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148840" y="1783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starter code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017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Session 5 code from the class GitHub repository.</a:t>
            </a:r>
          </a:p>
          <a:p>
            <a:pPr marL="0" indent="0">
              <a:buNone/>
            </a:pPr>
            <a:endParaRPr lang="en-US" sz="14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46120" y="146304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1"/>
          <p:cNvSpPr/>
          <p:nvPr/>
        </p:nvSpPr>
        <p:spPr>
          <a:xfrm>
            <a:off x="3474720" y="169164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170" y="186309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83480" y="1783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variables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474720" y="3017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player_x and player_y, then find the movement code.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080760" y="146304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6"/>
          <p:cNvSpPr/>
          <p:nvPr/>
        </p:nvSpPr>
        <p:spPr>
          <a:xfrm>
            <a:off x="6309360" y="1691640"/>
            <a:ext cx="685800" cy="685800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10" y="186309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818120" y="1783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Change, run, observe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3017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values, run the game, and observe the result.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926080" y="4251960"/>
            <a:ext cx="3291840" cy="411480"/>
          </a:xfrm>
          <a:prstGeom prst="roundRect">
            <a:avLst>
              <a:gd name="adj" fmla="val 26667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6" name="Text 21"/>
          <p:cNvSpPr txBox="1"/>
          <p:nvPr/>
        </p:nvSpPr>
        <p:spPr>
          <a:xfrm>
            <a:off x="292608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d-ID" sz="1400" b="1" dirty="0">
                <a:solidFill>
                  <a:schemeClr val="bg1"/>
                </a:solidFill>
              </a:rPr>
              <a:t>https://github.com/annisafzhn/CCA.git </a:t>
            </a:r>
            <a:endParaRPr lang="en-US" sz="13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Speed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we change the number?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 += 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581912"/>
            <a:ext cx="265176" cy="365760"/>
          </a:xfrm>
          <a:prstGeom prst="roundRect">
            <a:avLst>
              <a:gd name="adj" fmla="val 4137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 txBox="1"/>
          <p:nvPr/>
        </p:nvSpPr>
        <p:spPr>
          <a:xfrm>
            <a:off x="3328416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 += 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2221992"/>
            <a:ext cx="960120" cy="365760"/>
          </a:xfrm>
          <a:prstGeom prst="roundRect">
            <a:avLst>
              <a:gd name="adj" fmla="val 30000"/>
            </a:avLst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 txBox="1"/>
          <p:nvPr/>
        </p:nvSpPr>
        <p:spPr>
          <a:xfrm>
            <a:off x="402336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 += 10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34640" y="2862072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 txBox="1"/>
          <p:nvPr/>
        </p:nvSpPr>
        <p:spPr>
          <a:xfrm>
            <a:off x="489204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 += 20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34640" y="3502152"/>
            <a:ext cx="3566160" cy="365760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Text 16"/>
          <p:cNvSpPr txBox="1"/>
          <p:nvPr/>
        </p:nvSpPr>
        <p:spPr>
          <a:xfrm>
            <a:off x="6629400" y="3429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movement value  →  Faster movement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594360" cy="594360"/>
          </a:xfrm>
          <a:prstGeom prst="ellipse">
            <a:avLst/>
          </a:prstGeom>
          <a:solidFill>
            <a:srgbClr val="1E2747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LEFT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180" y="1714500"/>
            <a:ext cx="320040" cy="3200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754880" y="128016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1"/>
          <p:cNvSpPr/>
          <p:nvPr/>
        </p:nvSpPr>
        <p:spPr>
          <a:xfrm>
            <a:off x="4983480" y="1600200"/>
            <a:ext cx="594360" cy="594360"/>
          </a:xfrm>
          <a:prstGeom prst="ellipse">
            <a:avLst/>
          </a:prstGeom>
          <a:solidFill>
            <a:srgbClr val="1E2747"/>
          </a:solidFill>
          <a:ln w="1905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2"/>
          <p:cNvSpPr txBox="1"/>
          <p:nvPr/>
        </p:nvSpPr>
        <p:spPr>
          <a:xfrm>
            <a:off x="49834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80644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863840" y="1554480"/>
            <a:ext cx="640080" cy="64008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860" y="1714500"/>
            <a:ext cx="320040" cy="3200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57200" y="269748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Shape 17"/>
          <p:cNvSpPr/>
          <p:nvPr/>
        </p:nvSpPr>
        <p:spPr>
          <a:xfrm>
            <a:off x="685800" y="3017520"/>
            <a:ext cx="594360" cy="594360"/>
          </a:xfrm>
          <a:prstGeom prst="ellipse">
            <a:avLst/>
          </a:prstGeom>
          <a:solidFill>
            <a:srgbClr val="1E2747"/>
          </a:solidFill>
          <a:ln w="19050">
            <a:solidFill>
              <a:srgbClr val="AAFF7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3" name="Text 19"/>
          <p:cNvSpPr txBox="1"/>
          <p:nvPr/>
        </p:nvSpPr>
        <p:spPr>
          <a:xfrm>
            <a:off x="150876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3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50876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DOWN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3566160" y="2971800"/>
            <a:ext cx="640080" cy="640080"/>
          </a:xfrm>
          <a:prstGeom prst="ellipse">
            <a:avLst/>
          </a:prstGeom>
          <a:solidFill>
            <a:srgbClr val="AAFF73"/>
          </a:solidFill>
          <a:ln w="12700">
            <a:solidFill>
              <a:srgbClr val="AAFF73"/>
            </a:solidFill>
            <a:prstDash val="solid"/>
          </a:ln>
        </p:spPr>
        <p:txBody>
          <a:bodyPr/>
          <a:lstStyle/>
          <a:p>
            <a:endParaRPr lang="id-ID" dirty="0">
              <a:solidFill>
                <a:srgbClr val="4C6F4A"/>
              </a:solidFill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3131820"/>
            <a:ext cx="320040" cy="32004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754880" y="269748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Shape 23"/>
          <p:cNvSpPr/>
          <p:nvPr/>
        </p:nvSpPr>
        <p:spPr>
          <a:xfrm>
            <a:off x="4983480" y="3017520"/>
            <a:ext cx="594360" cy="594360"/>
          </a:xfrm>
          <a:prstGeom prst="ellipse">
            <a:avLst/>
          </a:prstGeom>
          <a:solidFill>
            <a:srgbClr val="1E2747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9" name="Text 24"/>
          <p:cNvSpPr txBox="1"/>
          <p:nvPr/>
        </p:nvSpPr>
        <p:spPr>
          <a:xfrm>
            <a:off x="498348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5"/>
          <p:cNvSpPr txBox="1"/>
          <p:nvPr/>
        </p:nvSpPr>
        <p:spPr>
          <a:xfrm>
            <a:off x="580644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4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580644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 + RIGHT</a:t>
            </a:r>
            <a:endParaRPr lang="en-US" sz="18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5B7CA34-970D-FACF-F317-B2732F587F7A}"/>
              </a:ext>
            </a:extLst>
          </p:cNvPr>
          <p:cNvGrpSpPr/>
          <p:nvPr/>
        </p:nvGrpSpPr>
        <p:grpSpPr>
          <a:xfrm>
            <a:off x="7745078" y="2821222"/>
            <a:ext cx="457200" cy="457200"/>
            <a:chOff x="7968344" y="2553789"/>
            <a:chExt cx="457200" cy="457200"/>
          </a:xfrm>
        </p:grpSpPr>
        <p:sp>
          <p:nvSpPr>
            <p:cNvPr id="32" name="Shape 27"/>
            <p:cNvSpPr/>
            <p:nvPr/>
          </p:nvSpPr>
          <p:spPr>
            <a:xfrm>
              <a:off x="7968344" y="2553789"/>
              <a:ext cx="457200" cy="457200"/>
            </a:xfrm>
            <a:prstGeom prst="ellipse">
              <a:avLst/>
            </a:prstGeom>
            <a:solidFill>
              <a:srgbClr val="FBBF24"/>
            </a:solidFill>
            <a:ln w="12700">
              <a:solidFill>
                <a:srgbClr val="FBBF24"/>
              </a:solidFill>
              <a:prstDash val="solid"/>
            </a:ln>
          </p:spPr>
          <p:txBody>
            <a:bodyPr/>
            <a:lstStyle/>
            <a:p>
              <a:endParaRPr lang="id-ID"/>
            </a:p>
          </p:txBody>
        </p:sp>
        <p:pic>
          <p:nvPicPr>
            <p:cNvPr id="33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82644" y="2668089"/>
              <a:ext cx="228600" cy="2286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637ADE8-6E8D-9954-A84D-D4B8A2784758}"/>
              </a:ext>
            </a:extLst>
          </p:cNvPr>
          <p:cNvGrpSpPr/>
          <p:nvPr/>
        </p:nvGrpSpPr>
        <p:grpSpPr>
          <a:xfrm>
            <a:off x="8163089" y="3159401"/>
            <a:ext cx="457200" cy="457200"/>
            <a:chOff x="7955280" y="3063240"/>
            <a:chExt cx="457200" cy="457200"/>
          </a:xfrm>
        </p:grpSpPr>
        <p:sp>
          <p:nvSpPr>
            <p:cNvPr id="34" name="Shape 28"/>
            <p:cNvSpPr/>
            <p:nvPr/>
          </p:nvSpPr>
          <p:spPr>
            <a:xfrm>
              <a:off x="7955280" y="3063240"/>
              <a:ext cx="457200" cy="457200"/>
            </a:xfrm>
            <a:prstGeom prst="ellipse">
              <a:avLst/>
            </a:prstGeom>
            <a:solidFill>
              <a:srgbClr val="FBBF24"/>
            </a:solidFill>
            <a:ln w="12700">
              <a:solidFill>
                <a:srgbClr val="FBBF24"/>
              </a:solidFill>
              <a:prstDash val="solid"/>
            </a:ln>
          </p:spPr>
          <p:txBody>
            <a:bodyPr/>
            <a:lstStyle/>
            <a:p>
              <a:endParaRPr lang="id-ID"/>
            </a:p>
          </p:txBody>
        </p:sp>
        <p:pic>
          <p:nvPicPr>
            <p:cNvPr id="35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69580" y="3177540"/>
              <a:ext cx="228600" cy="228600"/>
            </a:xfrm>
            <a:prstGeom prst="rect">
              <a:avLst/>
            </a:prstGeom>
          </p:spPr>
        </p:pic>
      </p:grpSp>
      <p:sp>
        <p:nvSpPr>
          <p:cNvPr id="36" name="Shape 29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7" name="Text 30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X + Change Y  →  Diagonal movement</a:t>
            </a:r>
            <a:endParaRPr lang="en-US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C6101E-E8E7-726F-C39B-BCE0EA3CA5A1}"/>
              </a:ext>
            </a:extLst>
          </p:cNvPr>
          <p:cNvSpPr txBox="1"/>
          <p:nvPr/>
        </p:nvSpPr>
        <p:spPr>
          <a:xfrm>
            <a:off x="1487775" y="2101310"/>
            <a:ext cx="1870769" cy="344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000" b="1" dirty="0" err="1">
                <a:solidFill>
                  <a:srgbClr val="4EDCFF"/>
                </a:solidFill>
                <a:latin typeface="Consolas"/>
              </a:rPr>
              <a:t>player_x</a:t>
            </a:r>
            <a:r>
              <a:rPr sz="2000" b="1" dirty="0">
                <a:solidFill>
                  <a:srgbClr val="4EDCFF"/>
                </a:solidFill>
                <a:latin typeface="Consolas"/>
              </a:rPr>
              <a:t> -= 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213ABD-CF9E-CAC7-1742-21D79C2F2812}"/>
              </a:ext>
            </a:extLst>
          </p:cNvPr>
          <p:cNvSpPr txBox="1"/>
          <p:nvPr/>
        </p:nvSpPr>
        <p:spPr>
          <a:xfrm>
            <a:off x="5783580" y="2111835"/>
            <a:ext cx="1870769" cy="344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000" b="1" dirty="0" err="1">
                <a:solidFill>
                  <a:srgbClr val="FF5EBC"/>
                </a:solidFill>
                <a:latin typeface="Consolas"/>
              </a:rPr>
              <a:t>player_y</a:t>
            </a:r>
            <a:r>
              <a:rPr sz="2000" b="1" dirty="0">
                <a:solidFill>
                  <a:srgbClr val="FF5EBC"/>
                </a:solidFill>
                <a:latin typeface="Consolas"/>
              </a:rPr>
              <a:t> -= 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71271C-E501-C234-5BF9-CFCD1E74CB01}"/>
              </a:ext>
            </a:extLst>
          </p:cNvPr>
          <p:cNvSpPr txBox="1"/>
          <p:nvPr/>
        </p:nvSpPr>
        <p:spPr>
          <a:xfrm>
            <a:off x="1512511" y="3506295"/>
            <a:ext cx="1870769" cy="344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000" b="1" dirty="0" err="1">
                <a:solidFill>
                  <a:srgbClr val="AAFF73"/>
                </a:solidFill>
                <a:latin typeface="Consolas"/>
              </a:rPr>
              <a:t>player_y</a:t>
            </a:r>
            <a:r>
              <a:rPr sz="2000" b="1" dirty="0">
                <a:solidFill>
                  <a:srgbClr val="AAFF73"/>
                </a:solidFill>
                <a:latin typeface="Consolas"/>
              </a:rPr>
              <a:t> += 5</a:t>
            </a:r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087B8ED1-8773-240D-CA88-2C2CE81DED23}"/>
              </a:ext>
            </a:extLst>
          </p:cNvPr>
          <p:cNvSpPr txBox="1"/>
          <p:nvPr/>
        </p:nvSpPr>
        <p:spPr>
          <a:xfrm>
            <a:off x="683925" y="30175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AF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>
              <a:solidFill>
                <a:srgbClr val="AAFF73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859DDE-6C7E-FD36-8E9C-4D2481755839}"/>
              </a:ext>
            </a:extLst>
          </p:cNvPr>
          <p:cNvSpPr txBox="1"/>
          <p:nvPr/>
        </p:nvSpPr>
        <p:spPr>
          <a:xfrm>
            <a:off x="5770517" y="3528427"/>
            <a:ext cx="2435026" cy="344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000" b="1" dirty="0">
                <a:solidFill>
                  <a:srgbClr val="FFD65C"/>
                </a:solidFill>
                <a:latin typeface="Consolas"/>
              </a:rPr>
              <a:t>diagonal movement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Your Own Movement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movement! Choose: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77165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2423160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9"/>
          <p:cNvSpPr txBox="1"/>
          <p:nvPr/>
        </p:nvSpPr>
        <p:spPr>
          <a:xfrm>
            <a:off x="640080" y="24231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783080" y="2423160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Text 11"/>
          <p:cNvSpPr txBox="1"/>
          <p:nvPr/>
        </p:nvSpPr>
        <p:spPr>
          <a:xfrm>
            <a:off x="1783080" y="24231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108960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3"/>
          <p:cNvSpPr txBox="1"/>
          <p:nvPr/>
        </p:nvSpPr>
        <p:spPr>
          <a:xfrm>
            <a:off x="640080" y="3108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783080" y="3108960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Text 15"/>
          <p:cNvSpPr txBox="1"/>
          <p:nvPr/>
        </p:nvSpPr>
        <p:spPr>
          <a:xfrm>
            <a:off x="1783080" y="3108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4612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Shape 18"/>
          <p:cNvSpPr/>
          <p:nvPr/>
        </p:nvSpPr>
        <p:spPr>
          <a:xfrm>
            <a:off x="3429000" y="164592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730" y="1771650"/>
            <a:ext cx="251460" cy="2514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069080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3429000" y="2423160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5" name="Text 21"/>
          <p:cNvSpPr txBox="1"/>
          <p:nvPr/>
        </p:nvSpPr>
        <p:spPr>
          <a:xfrm>
            <a:off x="3429000" y="24231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4572000" y="2423160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23"/>
          <p:cNvSpPr txBox="1"/>
          <p:nvPr/>
        </p:nvSpPr>
        <p:spPr>
          <a:xfrm>
            <a:off x="4572000" y="24231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3429000" y="3108960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9" name="Text 25"/>
          <p:cNvSpPr txBox="1"/>
          <p:nvPr/>
        </p:nvSpPr>
        <p:spPr>
          <a:xfrm>
            <a:off x="3429000" y="3108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4572000" y="3108960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1" name="Text 27"/>
          <p:cNvSpPr txBox="1"/>
          <p:nvPr/>
        </p:nvSpPr>
        <p:spPr>
          <a:xfrm>
            <a:off x="4572000" y="3108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342900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03504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4" name="Shape 30"/>
          <p:cNvSpPr/>
          <p:nvPr/>
        </p:nvSpPr>
        <p:spPr>
          <a:xfrm>
            <a:off x="6217920" y="1645920"/>
            <a:ext cx="502920" cy="5029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771650"/>
            <a:ext cx="251460" cy="25146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858000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Position</a:t>
            </a:r>
            <a:endParaRPr lang="en-US" sz="1600" dirty="0"/>
          </a:p>
        </p:txBody>
      </p:sp>
      <p:sp>
        <p:nvSpPr>
          <p:cNvPr id="37" name="Shape 32"/>
          <p:cNvSpPr/>
          <p:nvPr/>
        </p:nvSpPr>
        <p:spPr>
          <a:xfrm>
            <a:off x="6217920" y="242316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8" name="Text 33"/>
          <p:cNvSpPr txBox="1"/>
          <p:nvPr/>
        </p:nvSpPr>
        <p:spPr>
          <a:xfrm>
            <a:off x="6217920" y="24231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player_x = ?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player_y = ?</a:t>
            </a:r>
            <a:endParaRPr lang="en-US" sz="1600" dirty="0"/>
          </a:p>
        </p:txBody>
      </p:sp>
      <p:sp>
        <p:nvSpPr>
          <p:cNvPr id="39" name="Text 34"/>
          <p:cNvSpPr txBox="1"/>
          <p:nvPr/>
        </p:nvSpPr>
        <p:spPr>
          <a:xfrm>
            <a:off x="621792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own X and Y values.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5 · 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Big Ideas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GAME DEVELOPMENT · MODULE 2 · SESSION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X → Horizontal movement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 txBox="1"/>
          <p:nvPr/>
        </p:nvSpPr>
        <p:spPr>
          <a:xfrm>
            <a:off x="324612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DOWN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 → Vertical movement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Shape 13"/>
          <p:cNvSpPr/>
          <p:nvPr/>
        </p:nvSpPr>
        <p:spPr>
          <a:xfrm>
            <a:off x="6949440" y="1508760"/>
            <a:ext cx="822960" cy="8229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1714500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03504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movement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7"/>
          <p:cNvSpPr txBox="1"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+ CODE = MOVEMENT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FOR TRIGGERS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2194560" cy="1554480"/>
          </a:xfrm>
          <a:prstGeom prst="roundRect">
            <a:avLst>
              <a:gd name="adj" fmla="val 705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5" name="Shape 3"/>
          <p:cNvSpPr/>
          <p:nvPr/>
        </p:nvSpPr>
        <p:spPr>
          <a:xfrm>
            <a:off x="1508760" y="274320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29032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Input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320040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0" y="2560320"/>
            <a:ext cx="2194560" cy="1554480"/>
          </a:xfrm>
          <a:prstGeom prst="roundRect">
            <a:avLst>
              <a:gd name="adj" fmla="val 705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Shape 6"/>
          <p:cNvSpPr/>
          <p:nvPr/>
        </p:nvSpPr>
        <p:spPr>
          <a:xfrm>
            <a:off x="4251960" y="2743200"/>
            <a:ext cx="640080" cy="64008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29032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7472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Control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20040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17920" y="2560320"/>
            <a:ext cx="2194560" cy="1554480"/>
          </a:xfrm>
          <a:prstGeom prst="roundRect">
            <a:avLst>
              <a:gd name="adj" fmla="val 7059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Shape 9"/>
          <p:cNvSpPr/>
          <p:nvPr/>
        </p:nvSpPr>
        <p:spPr>
          <a:xfrm>
            <a:off x="6995160" y="2743200"/>
            <a:ext cx="640080" cy="640080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180" y="290322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1792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823</Words>
  <Application>Microsoft Office PowerPoint</Application>
  <PresentationFormat>On-screen Show (16:9)</PresentationFormat>
  <Paragraphs>213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Consolas</vt:lpstr>
      <vt:lpstr>Courier New</vt:lpstr>
      <vt:lpstr>Fira Code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Things Move (X,Y)</dc:title>
  <dc:subject>PptxGenJS Presentation</dc:subject>
  <dc:creator>PptxGenJS</dc:creator>
  <cp:lastModifiedBy>annisafzhn.ms</cp:lastModifiedBy>
  <cp:revision>4</cp:revision>
  <dcterms:created xsi:type="dcterms:W3CDTF">2026-09-30T03:15:51Z</dcterms:created>
  <dcterms:modified xsi:type="dcterms:W3CDTF">2026-09-30T05:12:20Z</dcterms:modified>
</cp:coreProperties>
</file>