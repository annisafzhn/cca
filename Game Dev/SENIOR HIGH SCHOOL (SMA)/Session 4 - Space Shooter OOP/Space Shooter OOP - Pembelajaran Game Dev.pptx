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1" r:id="rId3"/>
    <p:sldId id="257" r:id="rId4"/>
    <p:sldId id="258" r:id="rId5"/>
    <p:sldId id="259" r:id="rId6"/>
    <p:sldId id="260" r:id="rId7"/>
    <p:sldId id="27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3DC73-7D8D-4EA8-BB6F-B419504030B9}" type="datetimeFigureOut">
              <a:rPr lang="id-ID" smtClean="0"/>
              <a:t>17/09/2026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B7621-AFA2-4269-9FED-B5D44887F94D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82932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B7621-AFA2-4269-9FED-B5D44887F94D}" type="slidenum">
              <a:rPr lang="id-ID" smtClean="0"/>
              <a:t>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6270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475" y="4696717"/>
            <a:ext cx="3829050" cy="1019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76250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76750" y="1142107"/>
            <a:ext cx="3238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34D399"/>
                </a:solidFill>
                <a:latin typeface="Fira Code SemiBold"/>
              </a:rPr>
              <a:t>CCA GAME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0573" y="1608832"/>
            <a:ext cx="6830853" cy="8774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840"/>
              </a:lnSpc>
            </a:pPr>
            <a:r>
              <a:rPr sz="6600" b="1" i="0" u="none" dirty="0">
                <a:solidFill>
                  <a:srgbClr val="F8FAFC"/>
                </a:solidFill>
                <a:latin typeface="Outfit ExtraBold"/>
              </a:rPr>
              <a:t>Space Shooter </a:t>
            </a:r>
            <a:r>
              <a:rPr sz="6600" b="1" i="0" u="none" dirty="0">
                <a:solidFill>
                  <a:srgbClr val="22D3EE"/>
                </a:solidFill>
                <a:latin typeface="Outfit ExtraBold"/>
              </a:rPr>
              <a:t>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8262" y="2715517"/>
            <a:ext cx="18954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 u="none">
                <a:solidFill>
                  <a:srgbClr val="F8FAFC"/>
                </a:solidFill>
                <a:latin typeface="Plus Jakarta Sans Medium"/>
              </a:rPr>
              <a:t>Mini Project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8912" y="3267967"/>
            <a:ext cx="67341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1" i="0" u="none" dirty="0">
                <a:solidFill>
                  <a:srgbClr val="94A3B8"/>
                </a:solidFill>
                <a:latin typeface="Plus Jakarta Sans Medium"/>
              </a:rPr>
              <a:t>Module 1 — Session 4</a:t>
            </a:r>
            <a:r>
              <a:rPr b="1" dirty="0"/>
              <a:t>
</a:t>
            </a:r>
            <a:r>
              <a:rPr sz="2100" b="1" i="0" u="none" dirty="0">
                <a:solidFill>
                  <a:srgbClr val="94A3B8"/>
                </a:solidFill>
                <a:latin typeface="Plus Jakarta Sans Medium"/>
              </a:rPr>
              <a:t> Object-Oriented Programming &amp; Game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1475" y="4991992"/>
            <a:ext cx="382905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34D399"/>
                </a:solidFill>
                <a:latin typeface="Plus Jakarta Sans SemiBold"/>
              </a:rPr>
              <a:t>Teacher: </a:t>
            </a:r>
            <a:r>
              <a:rPr sz="1800" b="0" i="0" u="none">
                <a:solidFill>
                  <a:srgbClr val="34D399"/>
                </a:solidFill>
                <a:latin typeface="Plus Jakarta Sans SemiBold"/>
              </a:rPr>
              <a:t>Annisa </a:t>
            </a:r>
            <a:r>
              <a:rPr lang="en-US" sz="1800" b="0" i="0" u="none">
                <a:solidFill>
                  <a:srgbClr val="34D399"/>
                </a:solidFill>
                <a:latin typeface="Plus Jakarta Sans SemiBold"/>
              </a:rPr>
              <a:t>Hendrawan</a:t>
            </a:r>
            <a:endParaRPr sz="1800" b="0" i="0" u="none" dirty="0">
              <a:solidFill>
                <a:srgbClr val="34D399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81475" y="5382517"/>
            <a:ext cx="38290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Senior High School | Global Prestasi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9654"/>
            <a:ext cx="5381625" cy="5026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29655"/>
            <a:ext cx="5381625" cy="50265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1288114" y="1823950"/>
            <a:ext cx="5150643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3200" b="1" i="0" u="none" dirty="0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9261" y="1823950"/>
            <a:ext cx="5150643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3200" b="1" i="0" u="none" dirty="0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 dirty="0">
                <a:solidFill>
                  <a:srgbClr val="F8FAFC"/>
                </a:solidFill>
                <a:latin typeface="Outfit"/>
              </a:rPr>
              <a:t>From Procedural Code to OOP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06A71-578B-B507-6604-B079CD5D7E84}"/>
              </a:ext>
            </a:extLst>
          </p:cNvPr>
          <p:cNvSpPr txBox="1"/>
          <p:nvPr/>
        </p:nvSpPr>
        <p:spPr>
          <a:xfrm>
            <a:off x="726947" y="2094023"/>
            <a:ext cx="4940427" cy="44012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d-ID" sz="1400" dirty="0">
                <a:solidFill>
                  <a:srgbClr val="FFFF00"/>
                </a:solidFill>
              </a:rPr>
              <a:t>PLAYER</a:t>
            </a: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player_x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player_y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player_speed</a:t>
            </a:r>
            <a:endParaRPr lang="id-ID" sz="1400" dirty="0">
              <a:solidFill>
                <a:srgbClr val="FFFF00"/>
              </a:solidFill>
            </a:endParaRP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LASERS</a:t>
            </a: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lasers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laser_speed</a:t>
            </a:r>
            <a:endParaRPr lang="id-ID" sz="1400" dirty="0">
              <a:solidFill>
                <a:srgbClr val="FFFF00"/>
              </a:solidFill>
            </a:endParaRP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ASTEROIDS</a:t>
            </a: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asteroids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asteroid_speed</a:t>
            </a:r>
            <a:endParaRPr lang="id-ID" sz="1400" dirty="0">
              <a:solidFill>
                <a:srgbClr val="FFFF00"/>
              </a:solidFill>
            </a:endParaRP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GAME LOOP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move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player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move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lasers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spawn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asteroids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move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asteroids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collision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en-US" sz="1400" dirty="0">
                <a:solidFill>
                  <a:srgbClr val="FFFF00"/>
                </a:solidFill>
              </a:rPr>
              <a:t>	</a:t>
            </a:r>
            <a:r>
              <a:rPr lang="id-ID" sz="1400" dirty="0" err="1">
                <a:solidFill>
                  <a:srgbClr val="FFFF00"/>
                </a:solidFill>
              </a:rPr>
              <a:t>draw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everything</a:t>
            </a:r>
            <a:endParaRPr lang="id-ID" sz="1400" dirty="0">
              <a:solidFill>
                <a:srgbClr val="FFFF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1DF05-E3C4-6B5A-4F8C-A60E0C74D7AA}"/>
              </a:ext>
            </a:extLst>
          </p:cNvPr>
          <p:cNvSpPr txBox="1"/>
          <p:nvPr/>
        </p:nvSpPr>
        <p:spPr>
          <a:xfrm>
            <a:off x="6698457" y="2088058"/>
            <a:ext cx="1778031" cy="418576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d-ID" sz="1400" dirty="0" err="1">
                <a:solidFill>
                  <a:srgbClr val="FFFF00"/>
                </a:solidFill>
              </a:rPr>
              <a:t>Player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Class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image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rect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speed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└── </a:t>
            </a:r>
            <a:r>
              <a:rPr lang="id-ID" sz="1400" dirty="0" err="1">
                <a:solidFill>
                  <a:srgbClr val="FFFF00"/>
                </a:solidFill>
              </a:rPr>
              <a:t>update</a:t>
            </a:r>
            <a:r>
              <a:rPr lang="id-ID" sz="1400" dirty="0">
                <a:solidFill>
                  <a:srgbClr val="FFFF00"/>
                </a:solidFill>
              </a:rPr>
              <a:t>()</a:t>
            </a: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Laser </a:t>
            </a:r>
            <a:r>
              <a:rPr lang="id-ID" sz="1400" dirty="0" err="1">
                <a:solidFill>
                  <a:srgbClr val="FFFF00"/>
                </a:solidFill>
              </a:rPr>
              <a:t>Class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image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rect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speed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└── </a:t>
            </a:r>
            <a:r>
              <a:rPr lang="id-ID" sz="1400" dirty="0" err="1">
                <a:solidFill>
                  <a:srgbClr val="FFFF00"/>
                </a:solidFill>
              </a:rPr>
              <a:t>update</a:t>
            </a:r>
            <a:r>
              <a:rPr lang="id-ID" sz="1400" dirty="0">
                <a:solidFill>
                  <a:srgbClr val="FFFF00"/>
                </a:solidFill>
              </a:rPr>
              <a:t>()</a:t>
            </a: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Asteroid </a:t>
            </a:r>
            <a:r>
              <a:rPr lang="id-ID" sz="1400" dirty="0" err="1">
                <a:solidFill>
                  <a:srgbClr val="FFFF00"/>
                </a:solidFill>
              </a:rPr>
              <a:t>Class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image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rect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speed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└── </a:t>
            </a:r>
            <a:r>
              <a:rPr lang="id-ID" sz="1400" dirty="0" err="1">
                <a:solidFill>
                  <a:srgbClr val="FFFF00"/>
                </a:solidFill>
              </a:rPr>
              <a:t>update</a:t>
            </a:r>
            <a:r>
              <a:rPr lang="id-ID" sz="1400" dirty="0">
                <a:solidFill>
                  <a:srgbClr val="FFFF00"/>
                </a:solidFill>
              </a:rPr>
              <a:t>()</a:t>
            </a:r>
          </a:p>
          <a:p>
            <a:endParaRPr lang="id-ID" sz="1400" dirty="0">
              <a:solidFill>
                <a:srgbClr val="FFFF00"/>
              </a:solidFill>
            </a:endParaRPr>
          </a:p>
          <a:p>
            <a:endParaRPr lang="id-ID" sz="1400" dirty="0">
              <a:solidFill>
                <a:srgbClr val="FFFF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255162-1814-0FBB-1DB4-552D24187F32}"/>
              </a:ext>
            </a:extLst>
          </p:cNvPr>
          <p:cNvSpPr txBox="1"/>
          <p:nvPr/>
        </p:nvSpPr>
        <p:spPr>
          <a:xfrm>
            <a:off x="9281897" y="2124673"/>
            <a:ext cx="1778031" cy="332398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d-ID" sz="1400" dirty="0" err="1">
                <a:solidFill>
                  <a:srgbClr val="FFFF00"/>
                </a:solidFill>
              </a:rPr>
              <a:t>Sprite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Groups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all_sprites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├── </a:t>
            </a:r>
            <a:r>
              <a:rPr lang="id-ID" sz="1400" dirty="0" err="1">
                <a:solidFill>
                  <a:srgbClr val="FFFF00"/>
                </a:solidFill>
              </a:rPr>
              <a:t>lasers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└── </a:t>
            </a:r>
            <a:r>
              <a:rPr lang="id-ID" sz="1400" dirty="0" err="1">
                <a:solidFill>
                  <a:srgbClr val="FFFF00"/>
                </a:solidFill>
              </a:rPr>
              <a:t>asteroids</a:t>
            </a:r>
            <a:endParaRPr lang="id-ID" sz="1400" dirty="0">
              <a:solidFill>
                <a:srgbClr val="FFFF00"/>
              </a:solidFill>
            </a:endParaRPr>
          </a:p>
          <a:p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GAME LOOP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id-ID" sz="1400" dirty="0" err="1">
                <a:solidFill>
                  <a:srgbClr val="FFFF00"/>
                </a:solidFill>
              </a:rPr>
              <a:t>Events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   ↓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id-ID" sz="1400" dirty="0" err="1">
                <a:solidFill>
                  <a:srgbClr val="FFFF00"/>
                </a:solidFill>
              </a:rPr>
              <a:t>Create</a:t>
            </a:r>
            <a:r>
              <a:rPr lang="id-ID" sz="1400" dirty="0">
                <a:solidFill>
                  <a:srgbClr val="FFFF00"/>
                </a:solidFill>
              </a:rPr>
              <a:t> </a:t>
            </a:r>
            <a:r>
              <a:rPr lang="id-ID" sz="1400" dirty="0" err="1">
                <a:solidFill>
                  <a:srgbClr val="FFFF00"/>
                </a:solidFill>
              </a:rPr>
              <a:t>Objects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   ↓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id-ID" sz="1400" dirty="0" err="1">
                <a:solidFill>
                  <a:srgbClr val="FFFF00"/>
                </a:solidFill>
              </a:rPr>
              <a:t>Update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   ↓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id-ID" sz="1400" dirty="0" err="1">
                <a:solidFill>
                  <a:srgbClr val="FFFF00"/>
                </a:solidFill>
              </a:rPr>
              <a:t>Collision</a:t>
            </a:r>
            <a:endParaRPr lang="id-ID" sz="1400" dirty="0">
              <a:solidFill>
                <a:srgbClr val="FFFF00"/>
              </a:solidFill>
            </a:endParaRPr>
          </a:p>
          <a:p>
            <a:r>
              <a:rPr lang="id-ID" sz="1400" dirty="0">
                <a:solidFill>
                  <a:srgbClr val="FFFF00"/>
                </a:solidFill>
              </a:rPr>
              <a:t>       ↓</a:t>
            </a:r>
          </a:p>
          <a:p>
            <a:r>
              <a:rPr lang="id-ID" sz="1400" dirty="0">
                <a:solidFill>
                  <a:srgbClr val="FFFF00"/>
                </a:solidFill>
              </a:rPr>
              <a:t>    </a:t>
            </a:r>
            <a:r>
              <a:rPr lang="id-ID" sz="1400" dirty="0" err="1">
                <a:solidFill>
                  <a:srgbClr val="FFFF00"/>
                </a:solidFill>
              </a:rPr>
              <a:t>Draw</a:t>
            </a:r>
            <a:endParaRPr lang="id-ID" sz="1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469" y="2022425"/>
            <a:ext cx="5819030" cy="38665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235499"/>
            <a:ext cx="4848969" cy="1653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744" y="2270075"/>
            <a:ext cx="5539911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22D3EE"/>
                </a:solidFill>
                <a:latin typeface="Outfit SemiBold"/>
              </a:rPr>
              <a:t>Our 6 Big Ideas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022425"/>
            <a:ext cx="484896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Today, we will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refactor our existing Space Shooter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into a more organized OOP game.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4483149"/>
            <a:ext cx="4571352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34D399"/>
                </a:solidFill>
                <a:latin typeface="Outfit SemiBold"/>
              </a:rPr>
              <a:t>At the end: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898380"/>
            <a:ext cx="4353669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F8FAFC"/>
                </a:solidFill>
                <a:latin typeface="Plus Jakarta Sans SemiBold"/>
              </a:rPr>
              <a:t>We will have a more organized OOP version of our Space Shooter.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744" y="2732930"/>
            <a:ext cx="2694868" cy="24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 dirty="0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01 — Refactoring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744" y="3009155"/>
            <a:ext cx="2566541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Organize existing code without changing its main behavior.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6160" y="2732930"/>
            <a:ext cx="2695024" cy="24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02 —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6160" y="3009155"/>
            <a:ext cx="256668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Create a blueprint for our game objects.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744" y="3750022"/>
            <a:ext cx="2694868" cy="24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03 —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744" y="4026247"/>
            <a:ext cx="2566541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Create actual game objects from our classes.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6160" y="3750022"/>
            <a:ext cx="2695024" cy="2377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04 — __init__() &amp; 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6160" y="4026247"/>
            <a:ext cx="256668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Set up and manage an object's own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744" y="4767113"/>
            <a:ext cx="2694868" cy="24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05 — Sprite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744" y="5043338"/>
            <a:ext cx="2566541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Manage many game objects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6160" y="4767113"/>
            <a:ext cx="2695024" cy="24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i="0" u="none">
                <a:solidFill>
                  <a:srgbClr val="22D3EE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06 — Delta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6160" y="5043338"/>
            <a:ext cx="2566689" cy="445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54"/>
              </a:lnSpc>
            </a:pPr>
            <a:r>
              <a:rPr sz="1350" b="0" i="0" u="none">
                <a:solidFill>
                  <a:srgbClr val="F8FAFC"/>
                </a:solidFill>
                <a:latin typeface="Plus Jakarta Sans"/>
              </a:rPr>
              <a:t>Make movement depend on elapsed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Today's Mission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9900" y="1717327"/>
            <a:ext cx="4267200" cy="428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425" y="1726852"/>
            <a:ext cx="4248150" cy="419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17327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We already have a working Space Shooter.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212627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Today, we will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change its code structure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, not its main game idea.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231802"/>
            <a:ext cx="56007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A78BFA"/>
                </a:solidFill>
                <a:latin typeface="Outfit SemiBold"/>
              </a:rPr>
              <a:t>Our game still needs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694658"/>
            <a:ext cx="2238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Move the 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4875" y="4151858"/>
            <a:ext cx="2238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Shoot Lasers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609058"/>
            <a:ext cx="2238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Spawn Asteroids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3694658"/>
            <a:ext cx="2238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Move objects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125" y="4151858"/>
            <a:ext cx="2238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Detect collisions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7125" y="4609058"/>
            <a:ext cx="2238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Keep running in a Game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6946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41518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6090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3750" y="36946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3750" y="41518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3750" y="4609058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81825" y="187449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72325" y="187449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62825" y="187449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8575" y="1841152"/>
            <a:ext cx="1219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architecture.txt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3260377"/>
            <a:ext cx="171450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4631977"/>
            <a:ext cx="17145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Mini Project 1: Space Shooter OOP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4102"/>
            <a:ext cx="5334000" cy="3390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612927"/>
            <a:ext cx="5334000" cy="13448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93627"/>
            <a:ext cx="531495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2241202"/>
            <a:ext cx="5334000" cy="2228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745902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 simple Space Shooter may store game data like this: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1745902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And the main game loop controls: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4860577"/>
            <a:ext cx="5080635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FB7185"/>
                </a:solidFill>
                <a:latin typeface="Outfit SemiBold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5367188"/>
            <a:ext cx="48387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F8FAFC"/>
                </a:solidFill>
                <a:latin typeface="Plus Jakarta Sans"/>
              </a:rPr>
              <a:t>What happens when our game gets bigger?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425" y="274126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3925" y="274126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14425" y="274126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00175" y="2707927"/>
            <a:ext cx="533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Fira Code"/>
              </a:rPr>
              <a:t>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441227"/>
            <a:ext cx="490537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F8FAFC"/>
                </a:solidFill>
                <a:latin typeface="Fira Code"/>
              </a:rPr>
              <a:t>Player movement</a:t>
            </a:r>
            <a:r>
              <a:t>
</a:t>
            </a:r>
            <a:r>
              <a:rPr sz="1500" b="0" i="0" u="none">
                <a:solidFill>
                  <a:srgbClr val="F8FAFC"/>
                </a:solidFill>
                <a:latin typeface="Fira Code"/>
              </a:rPr>
              <a:t> Laser movement</a:t>
            </a:r>
            <a:r>
              <a:t>
</a:t>
            </a:r>
            <a:r>
              <a:rPr sz="1500" b="0" i="0" u="none">
                <a:solidFill>
                  <a:srgbClr val="F8FAFC"/>
                </a:solidFill>
                <a:latin typeface="Fira Code"/>
              </a:rPr>
              <a:t> Asteroid movement</a:t>
            </a:r>
            <a:r>
              <a:t>
</a:t>
            </a:r>
            <a:r>
              <a:rPr sz="1500" b="0" i="0" u="none">
                <a:solidFill>
                  <a:srgbClr val="F8FAFC"/>
                </a:solidFill>
                <a:latin typeface="Fira Code"/>
              </a:rPr>
              <a:t> Asteroid spawning</a:t>
            </a:r>
            <a:r>
              <a:t>
</a:t>
            </a:r>
            <a:r>
              <a:rPr sz="1500" b="0" i="0" u="none">
                <a:solidFill>
                  <a:srgbClr val="F8FAFC"/>
                </a:solidFill>
                <a:latin typeface="Fira Code"/>
              </a:rPr>
              <a:t> Collision</a:t>
            </a:r>
            <a:r>
              <a:t>
</a:t>
            </a:r>
            <a:r>
              <a:rPr sz="1500" b="0" i="0" u="none">
                <a:solidFill>
                  <a:srgbClr val="F8FAFC"/>
                </a:solidFill>
                <a:latin typeface="Fira Code"/>
              </a:rPr>
              <a:t> Drawing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Look at the Existing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398" y="3642158"/>
            <a:ext cx="3346704" cy="11811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2980" y="2417714"/>
            <a:ext cx="560070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 dirty="0">
                <a:solidFill>
                  <a:srgbClr val="22D3EE"/>
                </a:solidFill>
                <a:latin typeface="Outfit SemiBold"/>
              </a:rPr>
              <a:t>What Is Refactoring?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2980" y="3019574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22D3EE"/>
                </a:solidFill>
                <a:latin typeface="Plus Jakarta Sans"/>
              </a:rPr>
              <a:t>Refactoring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means reorganizing existing code without changing its intended behavior.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" y="4038749"/>
            <a:ext cx="56007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A78BFA"/>
                </a:solidFill>
                <a:latin typeface="Outfit SemiBold"/>
              </a:rPr>
              <a:t>Our goal: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355" y="4501605"/>
            <a:ext cx="5000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Organize the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355" y="4958805"/>
            <a:ext cx="5000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Make responsibilities clearer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355" y="5416005"/>
            <a:ext cx="50006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Make the game easier to expand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39625" y="3889808"/>
            <a:ext cx="303593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Plus Jakarta Sans SemiBold"/>
              </a:rPr>
              <a:t>We are changing the structure, not the main game idea.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" y="450160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2980" y="495880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" y="541600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Big Idea #1: Refactoring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31B7D-55EC-CB93-266E-C80F0526C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C1D35B2-B120-C4C1-B388-CF6EF746E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7985A857-957A-4C40-EF93-DA34C9D51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9655"/>
            <a:ext cx="5381625" cy="3661320"/>
          </a:xfrm>
          <a:prstGeom prst="rect">
            <a:avLst/>
          </a:prstGeom>
        </p:spPr>
      </p:pic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79BADE47-CAD2-DCD5-F158-3C3D7A23B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529655"/>
            <a:ext cx="5381625" cy="3661320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8DBF1DEB-C0FB-20D8-EE6F-DBECB2163F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429101"/>
            <a:ext cx="4305300" cy="148009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836800F0-438F-4B57-2FD6-8D5617A191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266801"/>
            <a:ext cx="4905375" cy="268605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482CDB4-7511-634F-6B1A-BF346ED3DD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266801"/>
            <a:ext cx="4905375" cy="2686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D49F6E-EBFB-DE7F-82A4-B07FAF183E7F}"/>
              </a:ext>
            </a:extLst>
          </p:cNvPr>
          <p:cNvSpPr txBox="1"/>
          <p:nvPr/>
        </p:nvSpPr>
        <p:spPr>
          <a:xfrm>
            <a:off x="686990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185E02-51EE-BA3F-6FCB-485DBDE1C2A3}"/>
              </a:ext>
            </a:extLst>
          </p:cNvPr>
          <p:cNvSpPr txBox="1"/>
          <p:nvPr/>
        </p:nvSpPr>
        <p:spPr>
          <a:xfrm>
            <a:off x="6354365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9C62E6-736D-4C98-E4AD-0D3A1C44558F}"/>
              </a:ext>
            </a:extLst>
          </p:cNvPr>
          <p:cNvSpPr txBox="1"/>
          <p:nvPr/>
        </p:nvSpPr>
        <p:spPr>
          <a:xfrm>
            <a:off x="571500" y="5429101"/>
            <a:ext cx="6780847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BBF24"/>
                </a:solidFill>
                <a:latin typeface="Outfit SemiBold"/>
              </a:rPr>
              <a:t>What changed?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8302DD-E32B-9EE0-4DCA-06D341810B93}"/>
              </a:ext>
            </a:extLst>
          </p:cNvPr>
          <p:cNvSpPr txBox="1"/>
          <p:nvPr/>
        </p:nvSpPr>
        <p:spPr>
          <a:xfrm>
            <a:off x="571500" y="5844331"/>
            <a:ext cx="6457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22D3EE"/>
                </a:solidFill>
                <a:latin typeface="Plus Jakarta Sans"/>
              </a:rPr>
              <a:t>Before:</a:t>
            </a:r>
            <a:r>
              <a:rPr sz="1650" b="0" i="0" u="none">
                <a:solidFill>
                  <a:srgbClr val="F8FAFC"/>
                </a:solidFill>
                <a:latin typeface="Plus Jakarta Sans"/>
              </a:rPr>
              <a:t> Different game objects are mixed together.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CFDED-4F10-B6B2-D591-A411ED54D685}"/>
              </a:ext>
            </a:extLst>
          </p:cNvPr>
          <p:cNvSpPr txBox="1"/>
          <p:nvPr/>
        </p:nvSpPr>
        <p:spPr>
          <a:xfrm>
            <a:off x="571500" y="6311056"/>
            <a:ext cx="64579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22D3EE"/>
                </a:solidFill>
                <a:latin typeface="Plus Jakarta Sans"/>
              </a:rPr>
              <a:t>After:</a:t>
            </a:r>
            <a:r>
              <a:rPr sz="1650" b="0" i="0" u="none">
                <a:solidFill>
                  <a:srgbClr val="F8FAFC"/>
                </a:solidFill>
                <a:latin typeface="Plus Jakarta Sans"/>
              </a:rPr>
              <a:t> Each game object has its own structure.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F89756-EF9B-0D16-A4F3-0275D37786C0}"/>
              </a:ext>
            </a:extLst>
          </p:cNvPr>
          <p:cNvSpPr txBox="1"/>
          <p:nvPr/>
        </p:nvSpPr>
        <p:spPr>
          <a:xfrm>
            <a:off x="7562850" y="5676751"/>
            <a:ext cx="4000500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22D3EE"/>
                </a:solidFill>
                <a:latin typeface="Outfit SemiBold"/>
              </a:rPr>
              <a:t>Main idea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AD509-26F3-1297-1951-EFF6C5AD92D1}"/>
              </a:ext>
            </a:extLst>
          </p:cNvPr>
          <p:cNvSpPr txBox="1"/>
          <p:nvPr/>
        </p:nvSpPr>
        <p:spPr>
          <a:xfrm>
            <a:off x="7562850" y="5975746"/>
            <a:ext cx="3810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F8FAFC"/>
                </a:solidFill>
                <a:latin typeface="Plus Jakarta Sans"/>
              </a:rPr>
              <a:t>Each part of the game gets a clear responsibility.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7D5B8-CC71-7CBA-481C-6B55727991D4}"/>
              </a:ext>
            </a:extLst>
          </p:cNvPr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From Procedural Code to OOP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0B6627-8B7E-9EB3-330E-8885AEF7C644}"/>
              </a:ext>
            </a:extLst>
          </p:cNvPr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CA8AE5B-CB0E-2FE2-358B-319D660744C4}"/>
              </a:ext>
            </a:extLst>
          </p:cNvPr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74897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29655"/>
            <a:ext cx="5334000" cy="4876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48880"/>
            <a:ext cx="5334000" cy="1895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530155"/>
            <a:ext cx="53340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958405"/>
            <a:ext cx="5314950" cy="352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529655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class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is a blueprint.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024955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An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object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is the actual thing created from that blueprint.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034855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Create the object: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24930"/>
            <a:ext cx="4930616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FB7185"/>
                </a:solidFill>
                <a:latin typeface="Outfit SemiBold"/>
              </a:rPr>
              <a:t>Remember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425" y="307270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23925" y="307270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14425" y="307270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2836366"/>
            <a:ext cx="4695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→ 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84091"/>
            <a:ext cx="4695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→ Object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531816"/>
            <a:ext cx="4695825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94A3B8"/>
                </a:solidFill>
                <a:latin typeface="Plus Jakarta Sans"/>
              </a:rPr>
              <a:t>→ Initial setup (</a:t>
            </a:r>
            <a:r>
              <a:rPr sz="1800" b="0" i="0" u="none" dirty="0">
                <a:solidFill>
                  <a:srgbClr val="FFFF00"/>
                </a:solidFill>
                <a:latin typeface="Plus Jakarta Sans"/>
              </a:rPr>
              <a:t>initialize</a:t>
            </a:r>
            <a:r>
              <a:rPr sz="1800" b="0" i="0" u="none" dirty="0">
                <a:solidFill>
                  <a:srgbClr val="94A3B8"/>
                </a:solidFill>
                <a:latin typeface="Plus Jakarta Sans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379541"/>
            <a:ext cx="4695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94A3B8"/>
                </a:solidFill>
                <a:latin typeface="Plus Jakarta Sans"/>
              </a:rPr>
              <a:t>→ The current object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Organizing a Game Object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9655"/>
            <a:ext cx="5429250" cy="39089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1529655"/>
            <a:ext cx="5429250" cy="39089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076301"/>
            <a:ext cx="5143500" cy="2733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4125" y="2076301"/>
            <a:ext cx="5143500" cy="3219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629126"/>
            <a:ext cx="116014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BBF24"/>
                </a:solidFill>
                <a:latin typeface="Outfit SemiBold"/>
              </a:rPr>
              <a:t>What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0612" y="5543192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22D3EE"/>
                </a:solidFill>
                <a:latin typeface="Plus Jakarta Sans"/>
              </a:rPr>
              <a:t>Before:</a:t>
            </a:r>
            <a:r>
              <a:rPr sz="1650" b="0" i="0" u="none" dirty="0">
                <a:solidFill>
                  <a:srgbClr val="F8FAFC"/>
                </a:solidFill>
                <a:latin typeface="Plus Jakarta Sans"/>
              </a:rPr>
              <a:t> Player data and behavior are in the main program.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0612" y="5905142"/>
            <a:ext cx="11049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22D3EE"/>
                </a:solidFill>
                <a:latin typeface="Plus Jakarta Sans"/>
              </a:rPr>
              <a:t>After:</a:t>
            </a:r>
            <a:r>
              <a:rPr sz="1650" b="0" i="0" u="none" dirty="0">
                <a:solidFill>
                  <a:srgbClr val="F8FAFC"/>
                </a:solidFill>
                <a:latin typeface="Plus Jakarta Sans"/>
              </a:rPr>
              <a:t> Player data and behavior are inside the Player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0612" y="6371867"/>
            <a:ext cx="11049000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2D3EE"/>
                </a:solidFill>
                <a:latin typeface="Fira Code"/>
              </a:rPr>
              <a:t>player_x → self.x player_y → self.y player_speed → self.speed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787" y="1729680"/>
            <a:ext cx="540067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5537" y="1729680"/>
            <a:ext cx="540067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Refactoring the Player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5955"/>
            <a:ext cx="5334000" cy="3590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3" y="2377380"/>
            <a:ext cx="3767329" cy="29014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415480"/>
            <a:ext cx="5314950" cy="352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529655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 Pygame Sprite is a game object that Pygame can manage.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8890" y="5553150"/>
            <a:ext cx="56007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800" b="0" i="0" u="none" dirty="0">
                <a:solidFill>
                  <a:srgbClr val="F8FAFC"/>
                </a:solidFill>
                <a:latin typeface="Outfit SemiBold"/>
              </a:rPr>
              <a:t>Key parts: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3587" y="5535215"/>
            <a:ext cx="261937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 dirty="0" err="1">
                <a:solidFill>
                  <a:schemeClr val="bg1"/>
                </a:solidFill>
                <a:latin typeface="Plus Jakarta Sans"/>
              </a:rPr>
              <a:t>pygame.sprite.Sprite</a:t>
            </a:r>
            <a:r>
              <a:rPr dirty="0">
                <a:solidFill>
                  <a:schemeClr val="bg1"/>
                </a:solidFill>
              </a:rPr>
              <a:t>
</a:t>
            </a:r>
            <a:r>
              <a:rPr sz="1200" b="0" i="0" u="none" dirty="0" err="1">
                <a:solidFill>
                  <a:schemeClr val="bg1"/>
                </a:solidFill>
                <a:latin typeface="Plus Jakarta Sans"/>
              </a:rPr>
              <a:t>Pygame's</a:t>
            </a:r>
            <a:r>
              <a:rPr sz="1200" b="0" i="0" u="none" dirty="0">
                <a:solidFill>
                  <a:schemeClr val="bg1"/>
                </a:solidFill>
                <a:latin typeface="Plus Jakarta Sans"/>
              </a:rPr>
              <a:t> base Sprite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86125" y="6604545"/>
            <a:ext cx="2619375" cy="25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super().__init__()</a:t>
            </a:r>
            <a:r>
              <a:t>
</a:t>
            </a:r>
            <a:r>
              <a:rPr sz="1200" b="0" i="0" u="none">
                <a:latin typeface="Plus Jakarta Sans"/>
              </a:rPr>
              <a:t>Initialize parent Sprite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7118895"/>
            <a:ext cx="26193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image</a:t>
            </a:r>
            <a:r>
              <a:t>
</a:t>
            </a:r>
            <a:r>
              <a:rPr sz="1200" b="0" i="0" u="none">
                <a:latin typeface="Plus Jakarta Sans"/>
              </a:rPr>
              <a:t>Sprite's appearance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6125" y="7118895"/>
            <a:ext cx="2619375" cy="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Plus Jakarta Sans"/>
              </a:rPr>
              <a:t>rect</a:t>
            </a:r>
            <a:r>
              <a:t>
</a:t>
            </a:r>
            <a:r>
              <a:rPr sz="1200" b="0" i="0" u="none">
                <a:latin typeface="Plus Jakarta Sans"/>
              </a:rPr>
              <a:t>Position and area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rcRect l="27259" t="22325" r="27086" b="20705"/>
          <a:stretch>
            <a:fillRect/>
          </a:stretch>
        </p:blipFill>
        <p:spPr>
          <a:xfrm>
            <a:off x="7483794" y="2459966"/>
            <a:ext cx="3154679" cy="28188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3425" y="25297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23925" y="25297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14425" y="252978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Turning the Player into a Sprite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" y="5475165"/>
            <a:ext cx="11049000" cy="13828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95575"/>
            <a:ext cx="5381625" cy="36613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29655"/>
            <a:ext cx="5381625" cy="36613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266801"/>
            <a:ext cx="4905375" cy="2686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266801"/>
            <a:ext cx="4905375" cy="2114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5772001"/>
            <a:ext cx="1108138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BBF24"/>
                </a:solidFill>
                <a:latin typeface="Outfit SemiBold"/>
              </a:rPr>
              <a:t>What changed?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84830" y="5689874"/>
            <a:ext cx="10553700" cy="937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22D3EE"/>
                </a:solidFill>
                <a:latin typeface="Plus Jakarta Sans"/>
              </a:rPr>
              <a:t>Before:</a:t>
            </a:r>
            <a:r>
              <a:rPr sz="1650" b="0" i="0" u="none" dirty="0">
                <a:solidFill>
                  <a:srgbClr val="F8FAFC"/>
                </a:solidFill>
                <a:latin typeface="Plus Jakarta Sans"/>
              </a:rPr>
              <a:t> We manually draw the Player using coordinates.</a:t>
            </a:r>
            <a:endParaRPr lang="en-US" sz="1650" b="0" i="0" u="none" dirty="0">
              <a:solidFill>
                <a:srgbClr val="F8FAFC"/>
              </a:solidFill>
              <a:latin typeface="Plus Jakarta Sans"/>
            </a:endParaRPr>
          </a:p>
          <a:p>
            <a:pPr>
              <a:lnSpc>
                <a:spcPts val="2475"/>
              </a:lnSpc>
            </a:pPr>
            <a:r>
              <a:rPr lang="en-US" sz="1650" b="1" dirty="0">
                <a:solidFill>
                  <a:srgbClr val="22D3EE"/>
                </a:solidFill>
                <a:latin typeface="Plus Jakarta Sans"/>
              </a:rPr>
              <a:t>After:</a:t>
            </a:r>
            <a:r>
              <a:rPr lang="en-US" sz="1650" dirty="0">
                <a:solidFill>
                  <a:srgbClr val="F8FAFC"/>
                </a:solidFill>
                <a:latin typeface="Plus Jakarta Sans"/>
              </a:rPr>
              <a:t> The Sprite stores its image (Appearance) and </a:t>
            </a:r>
            <a:r>
              <a:rPr lang="en-US" sz="1650" dirty="0" err="1">
                <a:solidFill>
                  <a:srgbClr val="F8FAFC"/>
                </a:solidFill>
                <a:latin typeface="Plus Jakarta Sans"/>
              </a:rPr>
              <a:t>rect</a:t>
            </a:r>
            <a:r>
              <a:rPr lang="en-US" sz="1650" dirty="0">
                <a:solidFill>
                  <a:srgbClr val="F8FAFC"/>
                </a:solidFill>
                <a:latin typeface="Plus Jakarta Sans"/>
              </a:rPr>
              <a:t> (Position).</a:t>
            </a:r>
          </a:p>
          <a:p>
            <a:pPr>
              <a:lnSpc>
                <a:spcPts val="2475"/>
              </a:lnSpc>
            </a:pPr>
            <a:r>
              <a:rPr lang="en-US" sz="1650" dirty="0">
                <a:solidFill>
                  <a:srgbClr val="22D3EE"/>
                </a:solidFill>
                <a:latin typeface="Plus Jakarta Sans SemiBold"/>
              </a:rPr>
              <a:t>Now </a:t>
            </a:r>
            <a:r>
              <a:rPr lang="en-US" sz="1650" dirty="0" err="1">
                <a:solidFill>
                  <a:srgbClr val="22D3EE"/>
                </a:solidFill>
                <a:latin typeface="Plus Jakarta Sans SemiBold"/>
              </a:rPr>
              <a:t>Pygame</a:t>
            </a:r>
            <a:r>
              <a:rPr lang="en-US" sz="1650" dirty="0">
                <a:solidFill>
                  <a:srgbClr val="22D3EE"/>
                </a:solidFill>
                <a:latin typeface="Plus Jakarta Sans SemiBold"/>
              </a:rPr>
              <a:t> can manage the Player as a Sprite.</a:t>
            </a:r>
            <a:endParaRPr lang="en-US" sz="1650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6990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4365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From Manual Drawing to Sprite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5322271"/>
            <a:ext cx="5762625" cy="895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10705"/>
            <a:ext cx="5286375" cy="259258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310705"/>
            <a:ext cx="5286375" cy="38213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350716"/>
            <a:ext cx="4648200" cy="1257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529655"/>
            <a:ext cx="11049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F8FAFC"/>
                </a:solidFill>
                <a:latin typeface="Plus Jakarta Sans"/>
              </a:rPr>
              <a:t>Open your existing Space Shooter. Move the Player-related code into the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569921"/>
            <a:ext cx="5504300" cy="3788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1" i="0" u="none">
                <a:solidFill>
                  <a:srgbClr val="FB7185"/>
                </a:solidFill>
                <a:latin typeface="Plus Jakarta Sans"/>
              </a:rPr>
              <a:t>Then test: Does the Player still move correctly?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5980"/>
            <a:ext cx="488061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A78BFA"/>
                </a:solidFill>
                <a:latin typeface="Outfit SemiBold"/>
              </a:rPr>
              <a:t>1. The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605980"/>
            <a:ext cx="488061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34D399"/>
                </a:solidFill>
                <a:latin typeface="Outfit SemiBold"/>
              </a:rPr>
              <a:t>2. Include Attributes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3303091"/>
            <a:ext cx="4314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Player starting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400" y="3760291"/>
            <a:ext cx="4314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Player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4217491"/>
            <a:ext cx="4314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Player 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0400" y="4674691"/>
            <a:ext cx="4314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5141416"/>
            <a:ext cx="431482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rect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3303091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3760291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4217491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4674691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514141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Your Turn: Refactor the Player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592609"/>
            <a:ext cx="5334000" cy="472618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70770"/>
            <a:ext cx="5334000" cy="1457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213895"/>
            <a:ext cx="5334000" cy="1104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45010"/>
            <a:ext cx="4695825" cy="1028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402335"/>
            <a:ext cx="4695825" cy="140389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3080295"/>
            <a:ext cx="5314950" cy="3524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592609"/>
            <a:ext cx="560070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22D3EE"/>
                </a:solidFill>
                <a:latin typeface="Outfit SemiBold"/>
              </a:rPr>
              <a:t>Managing Many Game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194470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Sprite Group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is a container that manages multiple Sprites.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18595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Add objects: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2004" y="2105025"/>
            <a:ext cx="4930616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700" b="0" i="0" u="none">
                <a:solidFill>
                  <a:srgbClr val="22D3EE"/>
                </a:solidFill>
                <a:latin typeface="Outfit SemiBold"/>
              </a:rPr>
              <a:t>Then manage them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2004" y="4659510"/>
            <a:ext cx="4930616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94A3B8"/>
                </a:solidFill>
                <a:latin typeface="Outfit SemiBold"/>
              </a:rPr>
              <a:t>Main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006131"/>
            <a:ext cx="469582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1" i="0" u="none">
                <a:solidFill>
                  <a:srgbClr val="34D399"/>
                </a:solidFill>
                <a:latin typeface="Plus Jakarta Sans"/>
              </a:rPr>
              <a:t>Group = manage many Sprites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3425" y="31945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23925" y="31945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14425" y="319459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Big Idea #5: Sprite Groups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71951"/>
            <a:ext cx="11049000" cy="15868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29655"/>
            <a:ext cx="5381625" cy="350892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529655"/>
            <a:ext cx="5381625" cy="35089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266801"/>
            <a:ext cx="4905375" cy="2533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2266801"/>
            <a:ext cx="4905375" cy="2533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9150" y="5619601"/>
            <a:ext cx="11081385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BBF24"/>
                </a:solidFill>
                <a:latin typeface="Outfit SemiBold"/>
              </a:rPr>
              <a:t>What changed?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2311" y="5594362"/>
            <a:ext cx="10553700" cy="616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 dirty="0">
                <a:solidFill>
                  <a:srgbClr val="22D3EE"/>
                </a:solidFill>
                <a:latin typeface="Plus Jakarta Sans"/>
              </a:rPr>
              <a:t>Before:</a:t>
            </a:r>
            <a:r>
              <a:rPr sz="1650" b="0" i="0" u="none" dirty="0">
                <a:solidFill>
                  <a:srgbClr val="F8FAFC"/>
                </a:solidFill>
                <a:latin typeface="Plus Jakarta Sans"/>
              </a:rPr>
              <a:t> We manually manage different lists and loops.</a:t>
            </a:r>
            <a:endParaRPr lang="en-US" sz="1650" b="0" i="0" u="none" dirty="0">
              <a:solidFill>
                <a:srgbClr val="F8FAFC"/>
              </a:solidFill>
              <a:latin typeface="Plus Jakarta Sans"/>
            </a:endParaRPr>
          </a:p>
          <a:p>
            <a:pPr>
              <a:lnSpc>
                <a:spcPts val="2475"/>
              </a:lnSpc>
            </a:pPr>
            <a:r>
              <a:rPr lang="en-US" sz="1650" b="1" dirty="0">
                <a:solidFill>
                  <a:srgbClr val="22D3EE"/>
                </a:solidFill>
                <a:latin typeface="Plus Jakarta Sans"/>
              </a:rPr>
              <a:t>After:</a:t>
            </a:r>
            <a:r>
              <a:rPr lang="en-US" sz="1650" dirty="0">
                <a:solidFill>
                  <a:srgbClr val="F8FAFC"/>
                </a:solidFill>
                <a:latin typeface="Plus Jakarta Sans"/>
              </a:rPr>
              <a:t> The Sprite Group helps manage our Sprites together.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990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4365" y="1824930"/>
            <a:ext cx="515064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79"/>
              </a:lnSpc>
            </a:pPr>
            <a:r>
              <a:rPr sz="1650" b="0" i="0" u="none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Managing Many Objects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7366"/>
            <a:ext cx="5286375" cy="685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22366"/>
            <a:ext cx="5286375" cy="13105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1529655"/>
            <a:ext cx="5286375" cy="13296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5" y="3049785"/>
            <a:ext cx="5286375" cy="13296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078235"/>
            <a:ext cx="4905375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625" y="3598366"/>
            <a:ext cx="4905375" cy="5905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1529655"/>
            <a:ext cx="5550693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0" i="0" u="none">
                <a:solidFill>
                  <a:srgbClr val="22D3EE"/>
                </a:solidFill>
                <a:latin typeface="Outfit SemiBold"/>
              </a:rPr>
              <a:t>Making Movement Time-Based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131516"/>
            <a:ext cx="5286375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dt =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Delta Time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2636341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22D3EE"/>
                </a:solidFill>
                <a:latin typeface="Plus Jakarta Sans"/>
              </a:rPr>
              <a:t>Delta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 means </a:t>
            </a:r>
            <a:r>
              <a:rPr sz="1800" b="1" i="0" u="none">
                <a:solidFill>
                  <a:srgbClr val="22D3EE"/>
                </a:solidFill>
                <a:latin typeface="Plus Jakarta Sans"/>
              </a:rPr>
              <a:t>difference or change</a:t>
            </a:r>
            <a:r>
              <a:rPr sz="1800" b="0" i="0" u="none">
                <a:solidFill>
                  <a:srgbClr val="F8FAFC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141291"/>
            <a:ext cx="5286375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dt tells us how much time passed between frames.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5370016"/>
            <a:ext cx="5030628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8FAFC"/>
                </a:solidFill>
                <a:latin typeface="Outfit SemiBold"/>
              </a:rPr>
              <a:t>For movement: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5785246"/>
            <a:ext cx="4791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1" i="0" u="none">
                <a:solidFill>
                  <a:srgbClr val="FB7185"/>
                </a:solidFill>
                <a:latin typeface="Fira Code"/>
              </a:rPr>
              <a:t>movement = speed * 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1990" y="1777305"/>
            <a:ext cx="5150643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F87171"/>
                </a:solidFill>
                <a:latin typeface="Outfit SemiBold"/>
              </a:rPr>
              <a:t>BEFORE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1990" y="3297435"/>
            <a:ext cx="5150643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350" b="0" i="0" u="none">
                <a:solidFill>
                  <a:srgbClr val="34D399"/>
                </a:solidFill>
                <a:latin typeface="Outfit SemiBold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4665166"/>
            <a:ext cx="5550693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BBF24"/>
                </a:solidFill>
                <a:latin typeface="Outfit SemiBold"/>
              </a:rPr>
              <a:t>What changed?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4125" y="5011787"/>
            <a:ext cx="5286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2D3EE"/>
                </a:solidFill>
                <a:latin typeface="Plus Jakarta Sans"/>
              </a:rPr>
              <a:t>Before:</a:t>
            </a:r>
            <a:r>
              <a:rPr sz="1500" b="0" i="0" u="none">
                <a:solidFill>
                  <a:srgbClr val="F8FAFC"/>
                </a:solidFill>
                <a:latin typeface="Plus Jakarta Sans"/>
              </a:rPr>
              <a:t> Movement depends on frames.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4125" y="5345162"/>
            <a:ext cx="52863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22D3EE"/>
                </a:solidFill>
                <a:latin typeface="Plus Jakarta Sans"/>
              </a:rPr>
              <a:t>After:</a:t>
            </a:r>
            <a:r>
              <a:rPr sz="1500" b="0" i="0" u="none">
                <a:solidFill>
                  <a:srgbClr val="F8FAFC"/>
                </a:solidFill>
                <a:latin typeface="Plus Jakarta Sans"/>
              </a:rPr>
              <a:t> Movement depends on elapsed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4125" y="5773787"/>
            <a:ext cx="52863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22D3EE"/>
                </a:solidFill>
                <a:latin typeface="Plus Jakarta Sans"/>
              </a:rPr>
              <a:t>Speed × Time = Movement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Big Idea #6: Delta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9655"/>
            <a:ext cx="4411980" cy="4994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1357905"/>
            <a:ext cx="56007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0" i="0" u="none" dirty="0">
                <a:solidFill>
                  <a:srgbClr val="22D3EE"/>
                </a:solidFill>
                <a:latin typeface="Outfit SemiBold"/>
              </a:rPr>
              <a:t>The Main Game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675649"/>
            <a:ext cx="53340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F8FAFC"/>
                </a:solidFill>
                <a:latin typeface="Plus Jakarta Sans"/>
              </a:rPr>
              <a:t>The main game loop now focuses on high-level logic: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CA096B-FD6F-D24B-EFA6-D88BED3F882B}"/>
              </a:ext>
            </a:extLst>
          </p:cNvPr>
          <p:cNvGrpSpPr/>
          <p:nvPr/>
        </p:nvGrpSpPr>
        <p:grpSpPr>
          <a:xfrm>
            <a:off x="6518910" y="2147436"/>
            <a:ext cx="3641090" cy="4505325"/>
            <a:chOff x="6398261" y="2371574"/>
            <a:chExt cx="4036060" cy="4505325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98261" y="2371574"/>
              <a:ext cx="4036060" cy="4505325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693535" y="2533199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1. Events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93535" y="2999924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693535" y="3466649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2. Create Objects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93535" y="3933374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↓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693535" y="4400099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3. Update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93535" y="4866824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↓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693535" y="5333549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4. Collision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693535" y="5800274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↓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693535" y="6266999"/>
              <a:ext cx="3589209" cy="30008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950" b="0" i="0" u="none">
                  <a:solidFill>
                    <a:srgbClr val="FFFF00"/>
                  </a:solidFill>
                  <a:latin typeface="Fira Code"/>
                </a:rPr>
                <a:t>5. Draw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Space Shooter OOP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16685"/>
            <a:ext cx="5334000" cy="16534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29655"/>
            <a:ext cx="53340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709875"/>
            <a:ext cx="533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F8FAFC"/>
                </a:solidFill>
                <a:latin typeface="Plus Jakarta Sans"/>
              </a:rPr>
              <a:t>Now apply the ideas to </a:t>
            </a:r>
            <a:r>
              <a:rPr sz="1800" b="1" i="0" u="none" dirty="0">
                <a:solidFill>
                  <a:srgbClr val="22D3EE"/>
                </a:solidFill>
                <a:latin typeface="Plus Jakarta Sans"/>
              </a:rPr>
              <a:t>your own existing game</a:t>
            </a:r>
            <a:r>
              <a:rPr sz="1800" b="0" i="0" u="none" dirty="0">
                <a:solidFill>
                  <a:srgbClr val="F8FAFC"/>
                </a:solidFill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58305"/>
            <a:ext cx="56007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22D3EE"/>
                </a:solidFill>
                <a:latin typeface="Outfit SemiBold"/>
              </a:rPr>
              <a:t>Required: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5164335"/>
            <a:ext cx="5030628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 u="none">
                <a:solidFill>
                  <a:srgbClr val="F8FAFC"/>
                </a:solidFill>
                <a:latin typeface="Outfit SemiBold"/>
              </a:rPr>
              <a:t>Important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5579566"/>
            <a:ext cx="47910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1" i="0" u="none">
                <a:solidFill>
                  <a:srgbClr val="FB7185"/>
                </a:solidFill>
                <a:latin typeface="Plus Jakarta Sans"/>
              </a:rPr>
              <a:t>Your game should still work after refactoring.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550" y="1548705"/>
            <a:ext cx="5295900" cy="4533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4875" y="2621160"/>
            <a:ext cx="22860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Player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75" y="3087885"/>
            <a:ext cx="22860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Laser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554610"/>
            <a:ext cx="22860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Asteroid 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4875" y="4021335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Pygame Sprites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2621160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Sprite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078360"/>
            <a:ext cx="2286000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update(dt)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545085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Delta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4002285"/>
            <a:ext cx="2286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Working collision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2621160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308788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3554610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02133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6125" y="2621160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6125" y="3078360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6125" y="354508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6125" y="4002285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Refactor Your Space Shooter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15480"/>
            <a:ext cx="5286375" cy="40767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415480"/>
            <a:ext cx="5286375" cy="4076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529655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 u="none">
                <a:solidFill>
                  <a:srgbClr val="F8FAFC"/>
                </a:solidFill>
                <a:latin typeface="Plus Jakarta Sans"/>
              </a:rPr>
              <a:t>Once your OOP structure works, make the game your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8207" y="2806005"/>
            <a:ext cx="4680585" cy="411360"/>
          </a:xfrm>
          <a:prstGeom prst="rect">
            <a:avLst/>
          </a:prstGeom>
          <a:noFill/>
        </p:spPr>
        <p:txBody>
          <a:bodyPr wrap="square" lIns="485775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700" b="0" i="0" u="none">
                <a:solidFill>
                  <a:srgbClr val="FB7185"/>
                </a:solidFill>
                <a:latin typeface="Outfit SemiBold"/>
              </a:rPr>
              <a:t>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0832" y="2806005"/>
            <a:ext cx="4680585" cy="411360"/>
          </a:xfrm>
          <a:prstGeom prst="rect">
            <a:avLst/>
          </a:prstGeom>
          <a:noFill/>
        </p:spPr>
        <p:txBody>
          <a:bodyPr wrap="square" lIns="438150" tIns="0" rIns="0" bIns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sz="2700" b="0" i="0" u="none">
                <a:solidFill>
                  <a:srgbClr val="34D399"/>
                </a:solidFill>
                <a:latin typeface="Outfit SemiBold"/>
              </a:rPr>
              <a:t>Add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1250" y="2844105"/>
            <a:ext cx="342900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43025" y="35983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Player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3025" y="40555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Laser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3025" y="45127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Asteroid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3025" y="49699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Movement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3025" y="54271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Spawn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3025" y="58843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Background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962" y="2844105"/>
            <a:ext cx="29527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05650" y="35983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650" y="40555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Lives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650" y="45127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Power-ups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5650" y="49699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New enemies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5650" y="54271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Sound effects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5650" y="5884366"/>
            <a:ext cx="41243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Plus Jakarta Sans"/>
              </a:rPr>
              <a:t>New weapons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35983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9650" y="40555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9650" y="45127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9650" y="49699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650" y="54271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650" y="58843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2275" y="35983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72275" y="40555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2275" y="45127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2275" y="49699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72275" y="54271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2275" y="5884366"/>
            <a:ext cx="2286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4D399"/>
                </a:solidFill>
                <a:latin typeface="Fira Code SemiBold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Customize Your Space Shooter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576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0300"/>
            <a:ext cx="3524250" cy="14363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00300"/>
            <a:ext cx="3524250" cy="14363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00300"/>
            <a:ext cx="3524250" cy="14363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074765"/>
            <a:ext cx="3524250" cy="143634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3875" y="4074765"/>
            <a:ext cx="3524250" cy="143634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4074765"/>
            <a:ext cx="3524250" cy="14363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2647950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22D3EE"/>
                </a:solidFill>
                <a:latin typeface="Outfit SemiBold"/>
              </a:rPr>
              <a:t>01 — Refactoring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017490"/>
            <a:ext cx="2981325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Reorganize existing code cleanly.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2647950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22D3EE"/>
                </a:solidFill>
                <a:latin typeface="Outfit SemiBold"/>
              </a:rPr>
              <a:t>02 —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9150" y="3017490"/>
            <a:ext cx="2981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94A3B8"/>
                </a:solidFill>
                <a:latin typeface="Plus Jakarta Sans"/>
              </a:rPr>
              <a:t>A blueprint for game objects.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2647950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22D3EE"/>
                </a:solidFill>
                <a:latin typeface="Outfit SemiBold"/>
              </a:rPr>
              <a:t>03 —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017490"/>
            <a:ext cx="29813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An actual thing created from a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775" y="4322415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34D399"/>
                </a:solidFill>
                <a:latin typeface="Outfit SemiBold"/>
              </a:rPr>
              <a:t>04 — __</a:t>
            </a:r>
            <a:r>
              <a:rPr sz="2400" b="1" i="0" u="none" dirty="0" err="1">
                <a:solidFill>
                  <a:srgbClr val="34D399"/>
                </a:solidFill>
                <a:latin typeface="Outfit SemiBold"/>
              </a:rPr>
              <a:t>init</a:t>
            </a:r>
            <a:r>
              <a:rPr sz="2400" b="1" i="0" u="none" dirty="0">
                <a:solidFill>
                  <a:srgbClr val="34D399"/>
                </a:solidFill>
                <a:latin typeface="Outfit SemiBold"/>
              </a:rPr>
              <a:t>__() &amp; self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691955"/>
            <a:ext cx="29813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Set up and manage an object's own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9150" y="4322415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34D399"/>
                </a:solidFill>
                <a:latin typeface="Outfit SemiBold"/>
              </a:rPr>
              <a:t>05 — Sprite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9150" y="4691955"/>
            <a:ext cx="29813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Manage many Sprites together.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4322415"/>
            <a:ext cx="3130391" cy="2928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2400" b="1" i="0" u="none" dirty="0">
                <a:solidFill>
                  <a:srgbClr val="34D399"/>
                </a:solidFill>
                <a:latin typeface="Outfit SemiBold"/>
              </a:rPr>
              <a:t>06 — Delta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4691955"/>
            <a:ext cx="298132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>
                <a:solidFill>
                  <a:srgbClr val="94A3B8"/>
                </a:solidFill>
                <a:latin typeface="Plus Jakarta Sans"/>
              </a:rPr>
              <a:t>Make movement depend on elapsed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5771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 u="none">
                <a:solidFill>
                  <a:srgbClr val="F8FAFC"/>
                </a:solidFill>
                <a:latin typeface="Outfit"/>
              </a:rPr>
              <a:t>Final Recap: The 6 Big Ideas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1167705"/>
            <a:ext cx="11049000" cy="285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71500" y="1196280"/>
            <a:ext cx="76200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5734"/>
            <a:ext cx="11049000" cy="5905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75696" y="646426"/>
            <a:ext cx="484060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800" b="0" i="0" u="none" dirty="0">
                <a:solidFill>
                  <a:srgbClr val="94A3B8"/>
                </a:solidFill>
                <a:latin typeface="Outfit SemiBold"/>
              </a:rPr>
              <a:t>THINK LIKE A GAME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19462" y="877636"/>
            <a:ext cx="55530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 u="none" dirty="0">
                <a:solidFill>
                  <a:srgbClr val="F8FAFC"/>
                </a:solidFill>
                <a:latin typeface="Plus Jakarta Sans"/>
              </a:rPr>
              <a:t>When your game becomes bigger, ask: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689048"/>
            <a:ext cx="9861231" cy="720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sz="4800" b="1" i="0" u="none" dirty="0">
                <a:solidFill>
                  <a:srgbClr val="22D3EE"/>
                </a:solidFill>
                <a:latin typeface="Outfit"/>
              </a:rPr>
              <a:t>"Who should be responsible for this?"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0175" y="5370175"/>
            <a:ext cx="93916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F8FAFC"/>
                </a:solidFill>
                <a:latin typeface="Plus Jakarta Sans"/>
              </a:rPr>
              <a:t>Good game architecture means: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5383" y="5707791"/>
            <a:ext cx="9861232" cy="503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0" i="0" u="none" dirty="0">
                <a:solidFill>
                  <a:srgbClr val="34D399"/>
                </a:solidFill>
                <a:latin typeface="Outfit ExtraBold"/>
              </a:rPr>
              <a:t>Each part of the game has a clear responsibility.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4FEA1E-F888-E2DD-E405-7E952CD076AB}"/>
              </a:ext>
            </a:extLst>
          </p:cNvPr>
          <p:cNvGrpSpPr/>
          <p:nvPr/>
        </p:nvGrpSpPr>
        <p:grpSpPr>
          <a:xfrm>
            <a:off x="1413297" y="2746989"/>
            <a:ext cx="9525000" cy="2171700"/>
            <a:chOff x="1413297" y="3089043"/>
            <a:chExt cx="9525000" cy="2171700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13297" y="3089043"/>
              <a:ext cx="9525000" cy="2171700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CB45C30-24DB-EE48-7E39-D107B850A458}"/>
                </a:ext>
              </a:extLst>
            </p:cNvPr>
            <p:cNvGrpSpPr/>
            <p:nvPr/>
          </p:nvGrpSpPr>
          <p:grpSpPr>
            <a:xfrm>
              <a:off x="1803822" y="3581695"/>
              <a:ext cx="8743951" cy="1186397"/>
              <a:chOff x="1724024" y="3571423"/>
              <a:chExt cx="8743951" cy="1186397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724025" y="3571423"/>
                <a:ext cx="3699718" cy="3276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sz="1800" b="0" i="0" u="none" dirty="0">
                    <a:solidFill>
                      <a:srgbClr val="F8FAFC"/>
                    </a:solidFill>
                    <a:latin typeface="Fira Code"/>
                  </a:rPr>
                  <a:t>Player movement →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Player</a:t>
                </a:r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1724025" y="4011066"/>
                <a:ext cx="3699718" cy="3276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sz="1800" b="0" i="0" u="none" dirty="0">
                    <a:solidFill>
                      <a:srgbClr val="F8FAFC"/>
                    </a:solidFill>
                    <a:latin typeface="Fira Code"/>
                  </a:rPr>
                  <a:t>Laser movement →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Laser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1724024" y="4430166"/>
                <a:ext cx="4138295" cy="3276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sz="1800" b="0" i="0" u="none" dirty="0">
                    <a:solidFill>
                      <a:srgbClr val="F8FAFC"/>
                    </a:solidFill>
                    <a:latin typeface="Fira Code"/>
                  </a:rPr>
                  <a:t>Asteroid movement →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Asteroid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5814269" y="3571423"/>
                <a:ext cx="4653706" cy="3276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sz="1800" b="0" i="0" u="none" dirty="0">
                    <a:solidFill>
                      <a:srgbClr val="F8FAFC"/>
                    </a:solidFill>
                    <a:latin typeface="Fira Code"/>
                  </a:rPr>
                  <a:t>Manage many Sprites →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Sprite</a:t>
                </a:r>
                <a:r>
                  <a:rPr sz="1800" b="1" i="0" u="none" dirty="0">
                    <a:latin typeface="Fira Code"/>
                  </a:rPr>
                  <a:t>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Group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5862319" y="4353966"/>
                <a:ext cx="4605655" cy="327654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2700"/>
                  </a:lnSpc>
                </a:pPr>
                <a:r>
                  <a:rPr sz="1800" b="0" i="0" u="none" dirty="0">
                    <a:solidFill>
                      <a:srgbClr val="F8FAFC"/>
                    </a:solidFill>
                    <a:latin typeface="Fira Code"/>
                  </a:rPr>
                  <a:t>Time between frames → </a:t>
                </a:r>
                <a:r>
                  <a:rPr sz="1800" b="1" i="0" u="none" dirty="0">
                    <a:solidFill>
                      <a:srgbClr val="FFFF00"/>
                    </a:solidFill>
                    <a:latin typeface="Fira Code"/>
                  </a:rPr>
                  <a:t>dt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1127</Words>
  <Application>Microsoft Office PowerPoint</Application>
  <PresentationFormat>Widescreen</PresentationFormat>
  <Paragraphs>277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3" baseType="lpstr">
      <vt:lpstr>Aptos</vt:lpstr>
      <vt:lpstr>Arial</vt:lpstr>
      <vt:lpstr>Calibri</vt:lpstr>
      <vt:lpstr>Fira Code</vt:lpstr>
      <vt:lpstr>Fira Code SemiBold</vt:lpstr>
      <vt:lpstr>Outfit</vt:lpstr>
      <vt:lpstr>Outfit ExtraBold</vt:lpstr>
      <vt:lpstr>Outfit SemiBold</vt:lpstr>
      <vt:lpstr>Plus Jakarta Sans</vt:lpstr>
      <vt:lpstr>Plus Jakarta Sans Medium</vt:lpstr>
      <vt:lpstr>Plus Jakarta Sans SemiBold</vt:lpstr>
      <vt:lpstr>Poppins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annisafzhn.ms</cp:lastModifiedBy>
  <cp:revision>5</cp:revision>
  <dcterms:created xsi:type="dcterms:W3CDTF">2013-01-27T09:14:16Z</dcterms:created>
  <dcterms:modified xsi:type="dcterms:W3CDTF">2026-09-17T09:02:03Z</dcterms:modified>
  <cp:category/>
</cp:coreProperties>
</file>