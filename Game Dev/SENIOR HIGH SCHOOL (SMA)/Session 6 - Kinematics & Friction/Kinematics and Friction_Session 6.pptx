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lang="id-ID" sz="1200" b="0" i="0" u="none" strike="noStrike">
                <a:solidFill>
                  <a:srgbClr val="E5E7EB"/>
                </a:solidFill>
                <a:latin typeface="Calibri"/>
              </a:rPr>
              <a:t>Speed over time (frames)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movement</c:v>
                </c:pt>
              </c:strCache>
            </c:strRef>
          </c:tx>
          <c:spPr>
            <a:ln w="38100" cap="flat">
              <a:solidFill>
                <a:srgbClr val="F472B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472B6"/>
              </a:solidFill>
              <a:ln w="9525" cap="flat">
                <a:solidFill>
                  <a:srgbClr val="F472B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D1-4798-AC2D-9C375B1187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Acceleration</c:v>
                </c:pt>
              </c:strCache>
            </c:strRef>
          </c:tx>
          <c:spPr>
            <a:ln w="38100" cap="flat">
              <a:solidFill>
                <a:srgbClr val="22D3E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D1-4798-AC2D-9C375B1187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2A35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5E7E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E5E7EB"/>
                </a:solidFill>
                <a:latin typeface="Calibri"/>
              </a:rPr>
              <a:t>Velocity after each update (friction = 0.9)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5E7EB"/>
                    </a:solidFill>
                    <a:latin typeface="Arial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72.900000000000006</c:v>
                </c:pt>
                <c:pt idx="4">
                  <c:v>65.599999999999994</c:v>
                </c:pt>
                <c:pt idx="5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69-4A2E-BF0C-7E726D3150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762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75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github.com/annisafzhn/CCA.gi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3238" y="3203972"/>
            <a:ext cx="3057525" cy="7643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ectangle 3"/>
          <p:cNvSpPr/>
          <p:nvPr/>
        </p:nvSpPr>
        <p:spPr>
          <a:xfrm>
            <a:off x="3043238" y="3203972"/>
            <a:ext cx="305752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530048" y="1175147"/>
            <a:ext cx="2083904" cy="243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>
                <a:solidFill>
                  <a:srgbClr val="06B6D4"/>
                </a:solidFill>
                <a:latin typeface="Fira Code"/>
              </a:rPr>
              <a:t>CCA GAME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844" y="1603772"/>
            <a:ext cx="5758307" cy="6683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&amp;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93414" y="2835323"/>
            <a:ext cx="2757166" cy="3276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dirty="0">
                <a:solidFill>
                  <a:srgbClr val="06B6D4"/>
                </a:solidFill>
                <a:latin typeface="Fira Code"/>
              </a:rPr>
              <a:t>Module 2 — Session </a:t>
            </a:r>
            <a:r>
              <a:rPr lang="en-US" dirty="0">
                <a:solidFill>
                  <a:srgbClr val="06B6D4"/>
                </a:solidFill>
                <a:latin typeface="Fira Code"/>
              </a:rPr>
              <a:t>6</a:t>
            </a:r>
            <a:endParaRPr dirty="0">
              <a:solidFill>
                <a:srgbClr val="06B6D4"/>
              </a:solidFill>
              <a:latin typeface="Fira Code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477" y="3439716"/>
            <a:ext cx="1993046" cy="238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>
                <a:solidFill>
                  <a:srgbClr val="F8FAFC"/>
                </a:solidFill>
                <a:latin typeface="Inter"/>
              </a:rPr>
              <a:t>Teacher: Annisa Hendrawan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7193" y="3754040"/>
            <a:ext cx="2569614" cy="2015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8"/>
              </a:lnSpc>
            </a:pPr>
            <a:r>
              <a:rPr lang="en-US" sz="1125" dirty="0">
                <a:solidFill>
                  <a:srgbClr val="64748B"/>
                </a:solidFill>
                <a:latin typeface="Inter"/>
              </a:rPr>
              <a:t>Senior</a:t>
            </a:r>
            <a:r>
              <a:rPr sz="1125" dirty="0">
                <a:solidFill>
                  <a:srgbClr val="64748B"/>
                </a:solidFill>
                <a:latin typeface="Inter"/>
              </a:rPr>
              <a:t> High School — Global </a:t>
            </a:r>
            <a:r>
              <a:rPr sz="1125" dirty="0" err="1">
                <a:solidFill>
                  <a:srgbClr val="64748B"/>
                </a:solidFill>
                <a:latin typeface="Inter"/>
              </a:rPr>
              <a:t>Prestasi</a:t>
            </a:r>
            <a:r>
              <a:rPr sz="1125" dirty="0">
                <a:solidFill>
                  <a:srgbClr val="64748B"/>
                </a:solidFill>
                <a:latin typeface="Inter"/>
              </a:rPr>
              <a:t> School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6B550-6342-EA2A-817F-23CFDA39180D}"/>
              </a:ext>
            </a:extLst>
          </p:cNvPr>
          <p:cNvSpPr txBox="1"/>
          <p:nvPr/>
        </p:nvSpPr>
        <p:spPr>
          <a:xfrm>
            <a:off x="2259872" y="1936162"/>
            <a:ext cx="4624250" cy="692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2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Custom Physics Engine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432304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01 · TODAY'S MISSION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500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velocity and acceleration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356616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5000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movement using a custom physics system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 txBox="1"/>
          <p:nvPr/>
        </p:nvSpPr>
        <p:spPr>
          <a:xfrm>
            <a:off x="68580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58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friction to slow objects down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3291840"/>
            <a:ext cx="2743200" cy="1325880"/>
          </a:xfrm>
          <a:prstGeom prst="roundRect">
            <a:avLst>
              <a:gd name="adj" fmla="val 827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 txBox="1"/>
          <p:nvPr/>
        </p:nvSpPr>
        <p:spPr>
          <a:xfrm>
            <a:off x="3566160" y="3429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8587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 movement with physics-based movement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2423160" cy="2834640"/>
          </a:xfrm>
          <a:prstGeom prst="roundRect">
            <a:avLst>
              <a:gd name="adj" fmla="val 4528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011680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53796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30632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movement feel </a:t>
            </a: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and controlled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robotic.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02 · 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Movement Feel Robotic?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+= direction * speed * dt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RIGHT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→ → → → 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key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373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movement changes immediately.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want: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204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520440"/>
            <a:ext cx="342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171700" y="35204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43300" y="3520440"/>
            <a:ext cx="342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5204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520440"/>
            <a:ext cx="342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00700" y="35204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72300" y="3520440"/>
            <a:ext cx="342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52044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more than just </a:t>
            </a: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direction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131820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03 · FROM MOVEMENT TO PHYSICS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Movement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41732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41B34"/>
          </a:solidFill>
          <a:ln w="12700">
            <a:solidFill>
              <a:srgbClr val="2A35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4173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41732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41B34"/>
          </a:solidFill>
          <a:ln w="12700">
            <a:solidFill>
              <a:srgbClr val="2A35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build: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031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1031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1031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21031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concept has a different job: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685800" y="3429000"/>
            <a:ext cx="201168" cy="201168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 txBox="1"/>
          <p:nvPr/>
        </p:nvSpPr>
        <p:spPr>
          <a:xfrm>
            <a:off x="100584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886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velocity.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32004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Shape 22"/>
          <p:cNvSpPr/>
          <p:nvPr/>
        </p:nvSpPr>
        <p:spPr>
          <a:xfrm>
            <a:off x="3520440" y="3429000"/>
            <a:ext cx="201168" cy="20116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5" name="Text 23"/>
          <p:cNvSpPr txBox="1"/>
          <p:nvPr/>
        </p:nvSpPr>
        <p:spPr>
          <a:xfrm>
            <a:off x="384048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3886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position.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32004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8" name="Shape 26"/>
          <p:cNvSpPr/>
          <p:nvPr/>
        </p:nvSpPr>
        <p:spPr>
          <a:xfrm>
            <a:off x="6355080" y="3429000"/>
            <a:ext cx="201168" cy="201168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9" name="Text 27"/>
          <p:cNvSpPr txBox="1"/>
          <p:nvPr/>
        </p:nvSpPr>
        <p:spPr>
          <a:xfrm>
            <a:off x="667512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3886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us where the object 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88236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04 · VELOCITY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663440" cy="128016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 txBox="1"/>
          <p:nvPr/>
        </p:nvSpPr>
        <p:spPr>
          <a:xfrm>
            <a:off x="73152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describes: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an object is moving and in which direction.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Vector2: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594360" y="32461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= pygame.Vector2(0, 0)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= pygame.Vector2(5, 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94960" y="1417320"/>
            <a:ext cx="3291840" cy="3154680"/>
          </a:xfrm>
          <a:prstGeom prst="roundRect">
            <a:avLst>
              <a:gd name="adj" fmla="val 3478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557784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= (5, 0)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2377440"/>
            <a:ext cx="640080" cy="640080"/>
          </a:xfrm>
          <a:prstGeom prst="ellipse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6492240" y="2697480"/>
            <a:ext cx="1828800" cy="0"/>
          </a:xfrm>
          <a:prstGeom prst="line">
            <a:avLst/>
          </a:prstGeom>
          <a:noFill/>
          <a:ln w="38100">
            <a:solidFill>
              <a:srgbClr val="FACC1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 txBox="1"/>
          <p:nvPr/>
        </p:nvSpPr>
        <p:spPr>
          <a:xfrm>
            <a:off x="5577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pixels per second →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can change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19913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05 · ACCELERATION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changes velocity.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04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changes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changes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141732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4069080" y="1463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+= acceleration * dt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31920" y="260604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 txBox="1"/>
          <p:nvPr/>
        </p:nvSpPr>
        <p:spPr>
          <a:xfrm>
            <a:off x="420624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acceleration points right: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63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becomes more and more rightward.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06 · THE KINEMATICS LOOP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frame, our physics engine does: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737360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1097280" y="17373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acceleration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 txBox="1"/>
          <p:nvPr/>
        </p:nvSpPr>
        <p:spPr>
          <a:xfrm>
            <a:off x="45720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267712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velocity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 txBox="1"/>
          <p:nvPr/>
        </p:nvSpPr>
        <p:spPr>
          <a:xfrm>
            <a:off x="45720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2798064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141B34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 14"/>
          <p:cNvSpPr txBox="1"/>
          <p:nvPr/>
        </p:nvSpPr>
        <p:spPr>
          <a:xfrm>
            <a:off x="1097280" y="2798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friction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 txBox="1"/>
          <p:nvPr/>
        </p:nvSpPr>
        <p:spPr>
          <a:xfrm>
            <a:off x="45720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3328416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1097280" y="33284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position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355848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45720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" y="3858768"/>
            <a:ext cx="4206240" cy="420624"/>
          </a:xfrm>
          <a:prstGeom prst="roundRect">
            <a:avLst>
              <a:gd name="adj" fmla="val 26087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 txBox="1"/>
          <p:nvPr/>
        </p:nvSpPr>
        <p:spPr>
          <a:xfrm>
            <a:off x="1097280" y="3858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6" name="Text 24"/>
          <p:cNvSpPr txBox="1"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389120"/>
            <a:ext cx="42062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FORMULAS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173736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 txBox="1"/>
          <p:nvPr/>
        </p:nvSpPr>
        <p:spPr>
          <a:xfrm>
            <a:off x="5623560" y="1783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+= acceleration * dt</a:t>
            </a:r>
            <a:endParaRPr lang="en-US" sz="1200" b="1" dirty="0"/>
          </a:p>
        </p:txBody>
      </p:sp>
      <p:sp>
        <p:nvSpPr>
          <p:cNvPr id="31" name="Shape 29"/>
          <p:cNvSpPr/>
          <p:nvPr/>
        </p:nvSpPr>
        <p:spPr>
          <a:xfrm>
            <a:off x="5486400" y="26974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2" name="Text 30"/>
          <p:cNvSpPr txBox="1"/>
          <p:nvPr/>
        </p:nvSpPr>
        <p:spPr>
          <a:xfrm>
            <a:off x="5623560" y="2743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+= velocity * dt</a:t>
            </a:r>
            <a:endParaRPr lang="en-US" sz="1200" b="1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840480"/>
            <a:ext cx="457200" cy="45720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12648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single frame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58775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07 · WHY ACCELERATION?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Speed vs Acceleration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 txBox="1"/>
          <p:nvPr/>
        </p:nvSpPr>
        <p:spPr>
          <a:xfrm>
            <a:off x="685800" y="1536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Movement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 txBox="1"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+= direction * speed * dt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RIGHT: </a:t>
            </a: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→ instantly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685800" y="3182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 txBox="1"/>
          <p:nvPr/>
        </p:nvSpPr>
        <p:spPr>
          <a:xfrm>
            <a:off x="82296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+= acceleration * dt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RIGHT: </a:t>
            </a: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2 → 4 → 6 → 8 → ...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graphicFrame>
        <p:nvGraphicFramePr>
          <p:cNvPr id="17" name="Chart 0"/>
          <p:cNvGraphicFramePr/>
          <p:nvPr/>
        </p:nvGraphicFramePr>
        <p:xfrm>
          <a:off x="4709160" y="1463040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663440" y="3931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Difference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4206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movement: 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changes immediately.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Acceleration: </a:t>
            </a: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changes gradually.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88236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08 · FRICTION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We Release the Key?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4138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7" name="Text 5"/>
          <p:cNvSpPr txBox="1"/>
          <p:nvPr/>
        </p:nvSpPr>
        <p:spPr>
          <a:xfrm>
            <a:off x="73152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FRICTION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→ → → →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keeps moving.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force that reduces velocity.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141B34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1"/>
          <p:cNvSpPr txBox="1"/>
          <p:nvPr/>
        </p:nvSpPr>
        <p:spPr>
          <a:xfrm>
            <a:off x="493776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FRICTION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92024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65176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3832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friction. </a:t>
            </a: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makes velocity gradually decrease.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58775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09 · APPLYING FRICTION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in 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physics model can reduce velocity over time: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594360" y="19659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*= friction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friction = 0.9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0" name="Text 8"/>
          <p:cNvSpPr txBox="1"/>
          <p:nvPr/>
        </p:nvSpPr>
        <p:spPr>
          <a:xfrm>
            <a:off x="685800" y="3108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friction value </a:t>
            </a:r>
            <a:r>
              <a:rPr lang="en-US" sz="16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stronger slowdown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68580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1 </a:t>
            </a: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sliding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graphicFrame>
        <p:nvGraphicFramePr>
          <p:cNvPr id="14" name="Chart 0"/>
          <p:cNvGraphicFramePr/>
          <p:nvPr/>
        </p:nvGraphicFramePr>
        <p:xfrm>
          <a:off x="4892040" y="1463040"/>
          <a:ext cx="37490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131820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10 · BUILD THE PHYSICS ENGINE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Physics Engine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separate the systems: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128016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Shape 6"/>
          <p:cNvSpPr/>
          <p:nvPr/>
        </p:nvSpPr>
        <p:spPr>
          <a:xfrm>
            <a:off x="640080" y="186537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9" name="Text 7"/>
          <p:cNvSpPr txBox="1"/>
          <p:nvPr/>
        </p:nvSpPr>
        <p:spPr>
          <a:xfrm>
            <a:off x="64008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6771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Text 10"/>
          <p:cNvSpPr txBox="1"/>
          <p:nvPr/>
        </p:nvSpPr>
        <p:spPr>
          <a:xfrm>
            <a:off x="777240" y="231343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acceleration.x +=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1737360"/>
            <a:ext cx="3977640" cy="128016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>
            <a:off x="4892040" y="1865376"/>
            <a:ext cx="310896" cy="310896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15" name="Text 13"/>
          <p:cNvSpPr txBox="1"/>
          <p:nvPr/>
        </p:nvSpPr>
        <p:spPr>
          <a:xfrm>
            <a:off x="489204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865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226771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 txBox="1"/>
          <p:nvPr/>
        </p:nvSpPr>
        <p:spPr>
          <a:xfrm>
            <a:off x="5029200" y="231343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+= acceleration * dt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*= friction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977640" cy="128016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8"/>
          <p:cNvSpPr/>
          <p:nvPr/>
        </p:nvSpPr>
        <p:spPr>
          <a:xfrm>
            <a:off x="640080" y="3328416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1" name="Text 19"/>
          <p:cNvSpPr txBox="1"/>
          <p:nvPr/>
        </p:nvSpPr>
        <p:spPr>
          <a:xfrm>
            <a:off x="64008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284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73075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4" name="Text 22"/>
          <p:cNvSpPr txBox="1"/>
          <p:nvPr/>
        </p:nvSpPr>
        <p:spPr>
          <a:xfrm>
            <a:off x="777240" y="377647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+= velocity * dt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3977640" cy="1280160"/>
          </a:xfrm>
          <a:prstGeom prst="roundRect">
            <a:avLst>
              <a:gd name="adj" fmla="val 8571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6" name="Shape 24"/>
          <p:cNvSpPr/>
          <p:nvPr/>
        </p:nvSpPr>
        <p:spPr>
          <a:xfrm>
            <a:off x="4892040" y="3328416"/>
            <a:ext cx="310896" cy="310896"/>
          </a:xfrm>
          <a:prstGeom prst="ellipse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id-ID"/>
          </a:p>
        </p:txBody>
      </p:sp>
      <p:sp>
        <p:nvSpPr>
          <p:cNvPr id="27" name="Text 25"/>
          <p:cNvSpPr txBox="1"/>
          <p:nvPr/>
        </p:nvSpPr>
        <p:spPr>
          <a:xfrm>
            <a:off x="489204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3284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3730752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28"/>
          <p:cNvSpPr txBox="1"/>
          <p:nvPr/>
        </p:nvSpPr>
        <p:spPr>
          <a:xfrm>
            <a:off x="5029200" y="377647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rect.center = position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121408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11 · LET'S CODE!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276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276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Session 5 Space Shooter.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92608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8"/>
          <p:cNvSpPr txBox="1"/>
          <p:nvPr/>
        </p:nvSpPr>
        <p:spPr>
          <a:xfrm>
            <a:off x="777240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github.com/annisafzhn/CCA.git</a:t>
            </a:r>
            <a:endParaRPr lang="en-US" sz="1300" b="1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344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Player movement code.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297680" y="1417320"/>
            <a:ext cx="4389120" cy="3200400"/>
          </a:xfrm>
          <a:prstGeom prst="roundRect">
            <a:avLst>
              <a:gd name="adj" fmla="val 2857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15544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92040" y="1554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player.py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1920240"/>
            <a:ext cx="4023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self.velocity = pygame.Vector2(0, 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acceleration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acceleration = pygame.Vector2(0, 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velocity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self.velocity += acceleration * dt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friction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self.velocity *= 0.9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C8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Finally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self.position += self.velocity * dt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510028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12 · TEST THE PHYSICS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Observe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game.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velocity?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9"/>
          <p:cNvSpPr txBox="1"/>
          <p:nvPr/>
        </p:nvSpPr>
        <p:spPr>
          <a:xfrm>
            <a:off x="4892040" y="1874520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240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RIGHT.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player stop immediately?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Text 12"/>
          <p:cNvSpPr txBox="1"/>
          <p:nvPr/>
        </p:nvSpPr>
        <p:spPr>
          <a:xfrm>
            <a:off x="640080" y="3108960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74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n-US" sz="14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friction = 0.9</a:t>
            </a: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friction = 0.5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5"/>
          <p:cNvSpPr txBox="1"/>
          <p:nvPr/>
        </p:nvSpPr>
        <p:spPr>
          <a:xfrm>
            <a:off x="4892040" y="3108960"/>
            <a:ext cx="868680" cy="274320"/>
          </a:xfrm>
          <a:prstGeom prst="roundRect">
            <a:avLst>
              <a:gd name="adj" fmla="val 33333"/>
            </a:avLst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474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friction = 0.99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68580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</a:t>
            </a:r>
            <a:r>
              <a:rPr lang="en-US" sz="15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friction change the movement feel?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LEVEL · PHYSICS CHALLENGE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Challenge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16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731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tune the physics?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6"/>
          <p:cNvSpPr txBox="1"/>
          <p:nvPr/>
        </p:nvSpPr>
        <p:spPr>
          <a:xfrm>
            <a:off x="640080" y="1828800"/>
            <a:ext cx="1325880" cy="27432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29046" y="2194560"/>
            <a:ext cx="2416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29046" y="2606040"/>
            <a:ext cx="24166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acceleration value.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player: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accelerate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accelerate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Text 10"/>
          <p:cNvSpPr txBox="1"/>
          <p:nvPr/>
        </p:nvSpPr>
        <p:spPr>
          <a:xfrm>
            <a:off x="3474720" y="1828800"/>
            <a:ext cx="1325880" cy="274320"/>
          </a:xfrm>
          <a:prstGeom prst="roundRect">
            <a:avLst>
              <a:gd name="adj" fmla="val 33333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363686" y="2194560"/>
            <a:ext cx="2416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363686" y="2606040"/>
            <a:ext cx="24166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friction value that feels: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 not take too long to stop.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169164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7" name="Text 14"/>
          <p:cNvSpPr txBox="1"/>
          <p:nvPr/>
        </p:nvSpPr>
        <p:spPr>
          <a:xfrm>
            <a:off x="6309360" y="1828800"/>
            <a:ext cx="1325880" cy="274320"/>
          </a:xfrm>
          <a:prstGeom prst="roundRect">
            <a:avLst>
              <a:gd name="adj" fmla="val 33333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198326" y="2194560"/>
            <a:ext cx="24166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198326" y="2606040"/>
            <a:ext cx="24166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versions: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acceleration + strong friction</a:t>
            </a:r>
            <a:endParaRPr lang="en-US" sz="1400" dirty="0"/>
          </a:p>
          <a:p>
            <a:pPr marL="0" indent="0">
              <a:buNone/>
            </a:pPr>
            <a:r>
              <a:rPr lang="en-US" sz="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acceleration + weak friction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389120"/>
            <a:ext cx="8229600" cy="347472"/>
          </a:xfrm>
          <a:prstGeom prst="roundRect">
            <a:avLst>
              <a:gd name="adj" fmla="val 31579"/>
            </a:avLst>
          </a:prstGeom>
          <a:solidFill>
            <a:srgbClr val="141B34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Text 18"/>
          <p:cNvSpPr txBox="1"/>
          <p:nvPr/>
        </p:nvSpPr>
        <p:spPr>
          <a:xfrm>
            <a:off x="685800" y="43891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feels different? </a:t>
            </a: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10512" cy="274320"/>
          </a:xfrm>
          <a:prstGeom prst="roundRect">
            <a:avLst>
              <a:gd name="adj" fmla="val 26667"/>
            </a:avLst>
          </a:prstGeom>
          <a:solidFill>
            <a:srgbClr val="0B1020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13 · WRAP 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Ideas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DEVELOPMENT III  ·  MODULE 2  ·  SESSION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18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changed the movement model: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579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59152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797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80944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01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02736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23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24528"/>
            <a:ext cx="2926080" cy="420624"/>
          </a:xfrm>
          <a:prstGeom prst="roundRect">
            <a:avLst>
              <a:gd name="adj" fmla="val 21739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FORMULAS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73736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 txBox="1"/>
          <p:nvPr/>
        </p:nvSpPr>
        <p:spPr>
          <a:xfrm>
            <a:off x="397764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+= acceleration * dt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0480" y="246888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Text 18"/>
          <p:cNvSpPr txBox="1"/>
          <p:nvPr/>
        </p:nvSpPr>
        <p:spPr>
          <a:xfrm>
            <a:off x="397764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*= friction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0480" y="3200400"/>
            <a:ext cx="4846320" cy="594360"/>
          </a:xfrm>
          <a:prstGeom prst="roundRect">
            <a:avLst>
              <a:gd name="adj" fmla="val 12308"/>
            </a:avLst>
          </a:prstGeom>
          <a:solidFill>
            <a:srgbClr val="070B16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20"/>
          <p:cNvSpPr txBox="1"/>
          <p:nvPr/>
        </p:nvSpPr>
        <p:spPr>
          <a:xfrm>
            <a:off x="3977640" y="3246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+= velocity * dt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gives us control over how movement feels.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B1020"/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&amp; Jumping Mechanics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acceleration is always pointing down?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6118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611880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36118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611880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361188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611880"/>
            <a:ext cx="960120" cy="384048"/>
          </a:xfrm>
          <a:prstGeom prst="roundRect">
            <a:avLst>
              <a:gd name="adj" fmla="val 23810"/>
            </a:avLst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in Session 7!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0" y="731520"/>
            <a:ext cx="3017520" cy="3931920"/>
          </a:xfrm>
          <a:prstGeom prst="roundRect">
            <a:avLst>
              <a:gd name="adj" fmla="val 3636"/>
            </a:avLst>
          </a:prstGeom>
          <a:solidFill>
            <a:srgbClr val="141B34"/>
          </a:solidFill>
          <a:ln w="12700">
            <a:solidFill>
              <a:srgbClr val="2A3566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640080" cy="640080"/>
          </a:xfrm>
          <a:prstGeom prst="rect">
            <a:avLst/>
          </a:prstGeom>
          <a:solidFill>
            <a:srgbClr val="22D3E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0" cy="1280160"/>
          </a:xfrm>
          <a:prstGeom prst="line">
            <a:avLst/>
          </a:prstGeom>
          <a:noFill/>
          <a:ln w="31750">
            <a:solidFill>
              <a:srgbClr val="FACC1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6" name="Shape 14"/>
          <p:cNvSpPr/>
          <p:nvPr/>
        </p:nvSpPr>
        <p:spPr>
          <a:xfrm>
            <a:off x="7086600" y="1920240"/>
            <a:ext cx="0" cy="1280160"/>
          </a:xfrm>
          <a:prstGeom prst="line">
            <a:avLst/>
          </a:prstGeom>
          <a:noFill/>
          <a:ln w="31750">
            <a:solidFill>
              <a:srgbClr val="FACC1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0" cy="1280160"/>
          </a:xfrm>
          <a:prstGeom prst="line">
            <a:avLst/>
          </a:prstGeom>
          <a:noFill/>
          <a:ln w="31750">
            <a:solidFill>
              <a:srgbClr val="FACC15"/>
            </a:solidFill>
            <a:prstDash val="solid"/>
            <a:tailEnd type="triangle"/>
          </a:ln>
        </p:spPr>
        <p:txBody>
          <a:bodyPr/>
          <a:lstStyle/>
          <a:p>
            <a:endParaRPr lang="id-ID"/>
          </a:p>
        </p:txBody>
      </p:sp>
      <p:sp>
        <p:nvSpPr>
          <p:cNvPr id="18" name="Text 16"/>
          <p:cNvSpPr txBox="1"/>
          <p:nvPr/>
        </p:nvSpPr>
        <p:spPr>
          <a:xfrm>
            <a:off x="585216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4023360"/>
            <a:ext cx="2468880" cy="365760"/>
          </a:xfrm>
          <a:prstGeom prst="rect">
            <a:avLst/>
          </a:prstGeom>
          <a:solidFill>
            <a:srgbClr val="2A3566"/>
          </a:solidFill>
          <a:ln/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1037</Words>
  <Application>Microsoft Office PowerPoint</Application>
  <PresentationFormat>On-screen Show (16:9)</PresentationFormat>
  <Paragraphs>287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Courier New</vt:lpstr>
      <vt:lpstr>Fira Code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Kinematics &amp; Friction - Module 2 Session 6</dc:title>
  <dc:subject>PptxGenJS Presentation</dc:subject>
  <dc:creator>Annisa Hendrawan</dc:creator>
  <cp:lastModifiedBy>annisafzhn.ms</cp:lastModifiedBy>
  <cp:revision>3</cp:revision>
  <dcterms:created xsi:type="dcterms:W3CDTF">2026-10-01T04:15:51Z</dcterms:created>
  <dcterms:modified xsi:type="dcterms:W3CDTF">2026-10-01T04:27:33Z</dcterms:modified>
</cp:coreProperties>
</file>