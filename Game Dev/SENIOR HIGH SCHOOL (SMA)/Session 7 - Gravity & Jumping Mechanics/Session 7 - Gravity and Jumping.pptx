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5E7EB"/>
                </a:solidFill>
                <a:latin typeface="Calibri"/>
              </a:rPr>
              <a:t>velocity.y during a jump (illustration)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velocity.y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-8</c:v>
                </c:pt>
                <c:pt idx="1">
                  <c:v>-6</c:v>
                </c:pt>
                <c:pt idx="2">
                  <c:v>-4</c:v>
                </c:pt>
                <c:pt idx="3">
                  <c:v>-2</c:v>
                </c:pt>
                <c:pt idx="4">
                  <c:v>0</c:v>
                </c:pt>
                <c:pt idx="5">
                  <c:v>2</c:v>
                </c:pt>
                <c:pt idx="6">
                  <c:v>4</c:v>
                </c:pt>
                <c:pt idx="7">
                  <c:v>6</c:v>
                </c:pt>
                <c:pt idx="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34-452E-BFCE-F0980F0D39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4A3B8"/>
                    </a:solidFill>
                    <a:latin typeface="Arial"/>
                  </a:rPr>
                  <a:t>time →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-10"/>
        </c:scaling>
        <c:delete val="0"/>
        <c:axPos val="l"/>
        <c:majorGridlines>
          <c:spPr>
            <a:ln w="6350" cap="flat">
              <a:solidFill>
                <a:srgbClr val="2A35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55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&amp; Jumping Mechanics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Session 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Responsive Jumping with Physics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Annisa Hendrawan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High School - Global Prestasi School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73152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Shape 7"/>
          <p:cNvSpPr/>
          <p:nvPr/>
        </p:nvSpPr>
        <p:spPr>
          <a:xfrm>
            <a:off x="6766560" y="1188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0" name="Shape 8"/>
          <p:cNvSpPr/>
          <p:nvPr/>
        </p:nvSpPr>
        <p:spPr>
          <a:xfrm>
            <a:off x="8138160" y="9144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1" name="Shape 9"/>
          <p:cNvSpPr/>
          <p:nvPr/>
        </p:nvSpPr>
        <p:spPr>
          <a:xfrm>
            <a:off x="7772400" y="21031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6035040" y="219456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Shape 11"/>
          <p:cNvSpPr/>
          <p:nvPr/>
        </p:nvSpPr>
        <p:spPr>
          <a:xfrm>
            <a:off x="8321040" y="27432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>
            <a:off x="6199632" y="2652133"/>
            <a:ext cx="128016" cy="128016"/>
          </a:xfrm>
          <a:prstGeom prst="ellipse">
            <a:avLst/>
          </a:prstGeom>
          <a:solidFill>
            <a:srgbClr val="22D3EE">
              <a:alpha val="55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6565392" y="2054974"/>
            <a:ext cx="128016" cy="128016"/>
          </a:xfrm>
          <a:prstGeom prst="ellipse">
            <a:avLst/>
          </a:prstGeom>
          <a:solidFill>
            <a:srgbClr val="22D3EE">
              <a:alpha val="55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6931152" y="175639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Shape 15"/>
          <p:cNvSpPr/>
          <p:nvPr/>
        </p:nvSpPr>
        <p:spPr>
          <a:xfrm>
            <a:off x="7296912" y="175639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8" name="Shape 16"/>
          <p:cNvSpPr/>
          <p:nvPr/>
        </p:nvSpPr>
        <p:spPr>
          <a:xfrm>
            <a:off x="7662672" y="2054974"/>
            <a:ext cx="128016" cy="128016"/>
          </a:xfrm>
          <a:prstGeom prst="ellipse">
            <a:avLst/>
          </a:prstGeom>
          <a:solidFill>
            <a:srgbClr val="22D3EE">
              <a:alpha val="55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8028432" y="2652133"/>
            <a:ext cx="128016" cy="128016"/>
          </a:xfrm>
          <a:prstGeom prst="ellipse">
            <a:avLst/>
          </a:prstGeom>
          <a:solidFill>
            <a:srgbClr val="22D3EE">
              <a:alpha val="55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5669280" y="3383280"/>
            <a:ext cx="365760" cy="365760"/>
          </a:xfrm>
          <a:prstGeom prst="rect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5577840" y="3749040"/>
            <a:ext cx="2926080" cy="457200"/>
          </a:xfrm>
          <a:prstGeom prst="rect">
            <a:avLst/>
          </a:prstGeom>
          <a:solidFill>
            <a:srgbClr val="2A356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12648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JUMP!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432304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01 · TODAY'S MISSION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 will build a gravity and jumping system.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 how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 txBox="1"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gravity to vertical movement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594360" y="254203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59436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velocity to create a jump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 txBox="1"/>
          <p:nvPr/>
        </p:nvSpPr>
        <p:spPr>
          <a:xfrm>
            <a:off x="59436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 the player reaches the ground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594360" y="3639312"/>
            <a:ext cx="310896" cy="310896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 txBox="1"/>
          <p:nvPr/>
        </p:nvSpPr>
        <p:spPr>
          <a:xfrm>
            <a:off x="59436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jump height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Shape 22"/>
          <p:cNvSpPr/>
          <p:nvPr/>
        </p:nvSpPr>
        <p:spPr>
          <a:xfrm>
            <a:off x="594360" y="4187952"/>
            <a:ext cx="310896" cy="310896"/>
          </a:xfrm>
          <a:prstGeom prst="ellipse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 txBox="1"/>
          <p:nvPr/>
        </p:nvSpPr>
        <p:spPr>
          <a:xfrm>
            <a:off x="5943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feeling of a jump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1920240"/>
            <a:ext cx="2423160" cy="2651760"/>
          </a:xfrm>
          <a:prstGeom prst="roundRect">
            <a:avLst>
              <a:gd name="adj" fmla="val 4528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03120"/>
            <a:ext cx="457200" cy="45720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53796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GOAL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537960" y="31089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our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system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playable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system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054096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02 · FROM PHYSICS TO GRAVITY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Gravity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Session 6, we built: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41B34"/>
          </a:solidFill>
          <a:ln w="12700">
            <a:solidFill>
              <a:srgbClr val="2A35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6916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6916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41B34"/>
          </a:solidFill>
          <a:ln w="12700">
            <a:solidFill>
              <a:srgbClr val="2A35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916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41B34"/>
          </a:solidFill>
          <a:ln w="12700">
            <a:solidFill>
              <a:srgbClr val="2A35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add gravity: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6060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26060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6060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60604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position.y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a constant downward acceleration.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594360" y="37033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+= gravity * dt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94960" y="14173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562356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19202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changes vertical velocity, which changes the player's position.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3154680"/>
            <a:ext cx="3657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5" name="Shape 23"/>
          <p:cNvSpPr/>
          <p:nvPr/>
        </p:nvSpPr>
        <p:spPr>
          <a:xfrm>
            <a:off x="6537960" y="3566160"/>
            <a:ext cx="0" cy="73152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 txBox="1"/>
          <p:nvPr/>
        </p:nvSpPr>
        <p:spPr>
          <a:xfrm>
            <a:off x="68580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4343400"/>
            <a:ext cx="2834640" cy="164592"/>
          </a:xfrm>
          <a:prstGeom prst="rect">
            <a:avLst/>
          </a:prstGeom>
          <a:solidFill>
            <a:srgbClr val="2A3566"/>
          </a:solidFill>
          <a:ln/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58775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03 · GRAVITY + JUMPING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Jump Work?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changes velocity: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+= gravity * dt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a jump, we give the player an upward velocity: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594360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= -jump_strength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68580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972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decreases → UP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increases → DOWN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4173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5"/>
          <p:cNvSpPr txBox="1"/>
          <p:nvPr/>
        </p:nvSpPr>
        <p:spPr>
          <a:xfrm>
            <a:off x="498348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JUMP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983480" y="1874520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= negative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983480" y="22402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983480" y="2404872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983480" y="2770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2935224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9352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→ 0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983480" y="33009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983480" y="3465576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983480" y="38313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983480" y="3995928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39959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→ positive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19913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04 · THE JUMP ARC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Velocity Becomes Downward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754880" cy="32004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463040"/>
          <a:ext cx="46634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417320"/>
            <a:ext cx="3200400" cy="548640"/>
          </a:xfrm>
          <a:prstGeom prst="roundRect">
            <a:avLst>
              <a:gd name="adj" fmla="val 2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6"/>
          <p:cNvSpPr txBox="1"/>
          <p:nvPr/>
        </p:nvSpPr>
        <p:spPr>
          <a:xfrm>
            <a:off x="566928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&lt; 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1545336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075688"/>
            <a:ext cx="3200400" cy="548640"/>
          </a:xfrm>
          <a:prstGeom prst="roundRect">
            <a:avLst>
              <a:gd name="adj" fmla="val 2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 txBox="1"/>
          <p:nvPr/>
        </p:nvSpPr>
        <p:spPr>
          <a:xfrm>
            <a:off x="5669280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= 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2203704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734056"/>
            <a:ext cx="3200400" cy="548640"/>
          </a:xfrm>
          <a:prstGeom prst="roundRect">
            <a:avLst>
              <a:gd name="adj" fmla="val 2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 txBox="1"/>
          <p:nvPr/>
        </p:nvSpPr>
        <p:spPr>
          <a:xfrm>
            <a:off x="5669280" y="27340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&gt; 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286207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47472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5"/>
          <p:cNvSpPr txBox="1"/>
          <p:nvPr/>
        </p:nvSpPr>
        <p:spPr>
          <a:xfrm>
            <a:off x="5669280" y="3566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822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starts with upward velocity. Gravity gradually turns it into downward velocity.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209544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05 · FROM VELOCITY TO POSITION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Player Actually Move?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know: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+= velocity * dt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vertical movement: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594360" y="2624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position.y += velocity.y * dt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player reaches the ground: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GROUND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=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3474720"/>
            <a:ext cx="320040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3497580" y="3840480"/>
            <a:ext cx="0" cy="457200"/>
          </a:xfrm>
          <a:prstGeom prst="line">
            <a:avLst/>
          </a:prstGeom>
          <a:noFill/>
          <a:ln w="31750">
            <a:solidFill>
              <a:srgbClr val="F472B6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5"/>
          <p:cNvSpPr/>
          <p:nvPr/>
        </p:nvSpPr>
        <p:spPr>
          <a:xfrm>
            <a:off x="2926080" y="4343400"/>
            <a:ext cx="1371600" cy="128016"/>
          </a:xfrm>
          <a:prstGeom prst="rect">
            <a:avLst/>
          </a:prstGeom>
          <a:solidFill>
            <a:srgbClr val="2A356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7"/>
          <p:cNvSpPr txBox="1"/>
          <p:nvPr/>
        </p:nvSpPr>
        <p:spPr>
          <a:xfrm>
            <a:off x="4983480" y="15544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176272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5120640" y="2221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+= gravity * dt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889504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 txBox="1"/>
          <p:nvPr/>
        </p:nvSpPr>
        <p:spPr>
          <a:xfrm>
            <a:off x="5120640" y="29352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position.y += velocity.y * dt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3602736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controls the fall. Velocity controls the movement. Position tells us where the player 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898648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· BUILD A JUMPING SYSTEM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your Session 6 result.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current physics movement into a playable jumping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Gravity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player fall.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0574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2743200" y="219456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651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Jump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108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SPACE to jump.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 txBox="1"/>
          <p:nvPr/>
        </p:nvSpPr>
        <p:spPr>
          <a:xfrm>
            <a:off x="4846320" y="219456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51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Ground Detection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108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player stop when reaching the ground.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0574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6949440" y="2194560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651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Physics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1089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jump_strength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friction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772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after every step.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3434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828800" y="4343400"/>
            <a:ext cx="342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171700" y="43434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543300" y="4343400"/>
            <a:ext cx="342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86200" y="43434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4343400"/>
            <a:ext cx="342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600700" y="43434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972300" y="4343400"/>
            <a:ext cx="342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43434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054096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06 · DON'T JUST MAKE IT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Feel Good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jump is not always a good jump. Experiment with: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0" cy="32004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 txBox="1"/>
          <p:nvPr/>
        </p:nvSpPr>
        <p:spPr>
          <a:xfrm>
            <a:off x="14630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GRAVITY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677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slower fall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floaty feeling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5212080" y="1874520"/>
            <a:ext cx="0" cy="77724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571500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GRAVITY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22677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faster fall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heavier feeling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274320" cy="2743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 txBox="1"/>
          <p:nvPr/>
        </p:nvSpPr>
        <p:spPr>
          <a:xfrm>
            <a:off x="14630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JUMP STRENGTH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502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 jump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5074920" y="3154680"/>
            <a:ext cx="274320" cy="7772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 txBox="1"/>
          <p:nvPr/>
        </p:nvSpPr>
        <p:spPr>
          <a:xfrm>
            <a:off x="571500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JUMP STRENGTH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3502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jump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438912"/>
          </a:xfrm>
          <a:prstGeom prst="roundRect">
            <a:avLst>
              <a:gd name="adj" fmla="val 25000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 txBox="1"/>
          <p:nvPr/>
        </p:nvSpPr>
        <p:spPr>
          <a:xfrm>
            <a:off x="685800" y="42062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</a:t>
            </a: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combination that feels good to play.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898648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LEVEL · LEVEL UP YOUR JUMP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Jump More Responsive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basic jump works, choose one: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Jump Height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INPUT → SMALL JUMP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INPUT  → HIGHER JUMP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66160"/>
            <a:ext cx="365760" cy="365760"/>
          </a:xfrm>
          <a:prstGeom prst="rect">
            <a:avLst/>
          </a:prstGeom>
          <a:solidFill>
            <a:srgbClr val="22D3EE">
              <a:alpha val="60000"/>
            </a:srgb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2926080" y="3063240"/>
            <a:ext cx="365760" cy="8686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914400" y="3950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950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 txBox="1"/>
          <p:nvPr/>
        </p:nvSpPr>
        <p:spPr>
          <a:xfrm>
            <a:off x="493776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Coyote Time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player to jump for a very short moment after leaving a platform.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063240"/>
            <a:ext cx="1828800" cy="128016"/>
          </a:xfrm>
          <a:prstGeom prst="rect">
            <a:avLst/>
          </a:prstGeom>
          <a:solidFill>
            <a:srgbClr val="2A356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6858000" y="3154680"/>
            <a:ext cx="292608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7004304" y="3520440"/>
            <a:ext cx="0" cy="365760"/>
          </a:xfrm>
          <a:prstGeom prst="line">
            <a:avLst/>
          </a:prstGeom>
          <a:noFill/>
          <a:ln w="31750">
            <a:solidFill>
              <a:srgbClr val="F472B6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 txBox="1"/>
          <p:nvPr/>
        </p:nvSpPr>
        <p:spPr>
          <a:xfrm>
            <a:off x="726948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grace period →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 txBox="1"/>
          <p:nvPr/>
        </p:nvSpPr>
        <p:spPr>
          <a:xfrm>
            <a:off x="685800" y="42976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mechanic makes your game feel more responsive?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1051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07 · WRAP 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Ideas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 GAME DEVELOPMENT  ·  MODULE 2  ·  SESSION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175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changes velocity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1938528"/>
            <a:ext cx="5212080" cy="420624"/>
          </a:xfrm>
          <a:prstGeom prst="roundRect">
            <a:avLst>
              <a:gd name="adj" fmla="val 17391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 txBox="1"/>
          <p:nvPr/>
        </p:nvSpPr>
        <p:spPr>
          <a:xfrm>
            <a:off x="3611880" y="19842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+= gravity * dt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468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changes position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74720" y="2761488"/>
            <a:ext cx="5212080" cy="420624"/>
          </a:xfrm>
          <a:prstGeom prst="roundRect">
            <a:avLst>
              <a:gd name="adj" fmla="val 17391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 txBox="1"/>
          <p:nvPr/>
        </p:nvSpPr>
        <p:spPr>
          <a:xfrm>
            <a:off x="3611880" y="2807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position.y += velocity.y * dt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91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starts with upward velocity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3584448"/>
            <a:ext cx="5212080" cy="420624"/>
          </a:xfrm>
          <a:prstGeom prst="roundRect">
            <a:avLst>
              <a:gd name="adj" fmla="val 17391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3611880" y="3630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velocity.y = -jump_strength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</a:t>
            </a: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make the jump work. Make it feel good.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B1020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Collisions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collision detection more precise.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0" y="731520"/>
            <a:ext cx="3017520" cy="3931920"/>
          </a:xfrm>
          <a:prstGeom prst="roundRect">
            <a:avLst>
              <a:gd name="adj" fmla="val 363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7" name="Shape 5"/>
          <p:cNvSpPr/>
          <p:nvPr/>
        </p:nvSpPr>
        <p:spPr>
          <a:xfrm>
            <a:off x="6949440" y="210312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Shape 7"/>
          <p:cNvSpPr/>
          <p:nvPr/>
        </p:nvSpPr>
        <p:spPr>
          <a:xfrm>
            <a:off x="7680960" y="210312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0" name="Shape 8"/>
          <p:cNvSpPr/>
          <p:nvPr/>
        </p:nvSpPr>
        <p:spPr>
          <a:xfrm>
            <a:off x="6583680" y="246888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1" name="Shape 9"/>
          <p:cNvSpPr/>
          <p:nvPr/>
        </p:nvSpPr>
        <p:spPr>
          <a:xfrm>
            <a:off x="6949440" y="246888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2" name="Shape 10"/>
          <p:cNvSpPr/>
          <p:nvPr/>
        </p:nvSpPr>
        <p:spPr>
          <a:xfrm>
            <a:off x="7315200" y="246888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Shape 11"/>
          <p:cNvSpPr/>
          <p:nvPr/>
        </p:nvSpPr>
        <p:spPr>
          <a:xfrm>
            <a:off x="7680960" y="246888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6583680" y="283464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6949440" y="283464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Shape 15"/>
          <p:cNvSpPr/>
          <p:nvPr/>
        </p:nvSpPr>
        <p:spPr>
          <a:xfrm>
            <a:off x="7680960" y="283464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8" name="Shape 16"/>
          <p:cNvSpPr/>
          <p:nvPr/>
        </p:nvSpPr>
        <p:spPr>
          <a:xfrm>
            <a:off x="8046720" y="283464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Shape 17"/>
          <p:cNvSpPr/>
          <p:nvPr/>
        </p:nvSpPr>
        <p:spPr>
          <a:xfrm>
            <a:off x="6583680" y="320040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8046720" y="3200400"/>
            <a:ext cx="338328" cy="3383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6473952" y="1627632"/>
            <a:ext cx="2011680" cy="2011680"/>
          </a:xfrm>
          <a:prstGeom prst="rect">
            <a:avLst/>
          </a:prstGeom>
          <a:ln w="25400">
            <a:solidFill>
              <a:srgbClr val="F472B6"/>
            </a:solidFill>
            <a:prstDash val="dash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585216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HITBOX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PIXELS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Gravity &amp; Jumping Mechanics - Module 2 Session 7</dc:title>
  <dc:subject>PptxGenJS Presentation</dc:subject>
  <dc:creator>Annisa Hendrawan</dc:creator>
  <cp:lastModifiedBy>annisafzhn.ms</cp:lastModifiedBy>
  <cp:revision>1</cp:revision>
  <dcterms:created xsi:type="dcterms:W3CDTF">2026-10-08T04:05:29Z</dcterms:created>
  <dcterms:modified xsi:type="dcterms:W3CDTF">2026-10-08T04:13:10Z</dcterms:modified>
</cp:coreProperties>
</file>